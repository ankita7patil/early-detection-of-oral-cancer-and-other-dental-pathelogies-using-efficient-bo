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9144000" cy="5143500"/>
  <p:notesSz cx="6858000" cy="9144000"/>
  <p:embeddedFontLst>
    <p:embeddedFont>
      <p:font typeface="Times New Roman" charset="1" panose="02020603050405020304"/>
      <p:regular r:id="rId24"/>
    </p:embeddedFont>
    <p:embeddedFont>
      <p:font typeface="Times New Roman Bold" charset="1" panose="02020803070505020304"/>
      <p:regular r:id="rId25"/>
    </p:embeddedFont>
    <p:embeddedFont>
      <p:font typeface="Calibri (MS)" charset="1" panose="020F0502020204030204"/>
      <p:regular r:id="rId26"/>
    </p:embeddedFont>
    <p:embeddedFont>
      <p:font typeface="Arial Bold" charset="1" panose="020B0704020202020204"/>
      <p:regular r:id="rId27"/>
    </p:embeddedFont>
    <p:embeddedFont>
      <p:font typeface="Arial" charset="1" panose="020B0604020202020204"/>
      <p:regular r:id="rId28"/>
    </p:embeddedFont>
    <p:embeddedFont>
      <p:font typeface="Times New Roman MT Bold" charset="1" panose="02030802070405020303"/>
      <p:regular r:id="rId29"/>
    </p:embeddedFont>
    <p:embeddedFont>
      <p:font typeface="Times New Roman MT" charset="1" panose="020305020704050203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1.bin" Type="http://schemas.openxmlformats.org/officeDocument/2006/relationships/oleObject"/><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embeddings/oleObject2.bin" Type="http://schemas.openxmlformats.org/officeDocument/2006/relationships/oleObject"/><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1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69511" y="1247141"/>
            <a:ext cx="1404977" cy="283312"/>
          </a:xfrm>
          <a:prstGeom prst="rect">
            <a:avLst/>
          </a:prstGeom>
        </p:spPr>
        <p:txBody>
          <a:bodyPr anchor="t" rtlCol="false" tIns="0" lIns="0" bIns="0" rIns="0">
            <a:spAutoFit/>
          </a:bodyPr>
          <a:lstStyle/>
          <a:p>
            <a:pPr algn="ctr">
              <a:lnSpc>
                <a:spcPts val="2234"/>
              </a:lnSpc>
            </a:pPr>
            <a:r>
              <a:rPr lang="en-US" sz="1596" spc="3">
                <a:solidFill>
                  <a:srgbClr val="000000"/>
                </a:solidFill>
                <a:latin typeface="Times New Roman"/>
                <a:ea typeface="Times New Roman"/>
                <a:cs typeface="Times New Roman"/>
                <a:sym typeface="Times New Roman"/>
              </a:rPr>
              <a:t>Presentation on</a:t>
            </a:r>
          </a:p>
        </p:txBody>
      </p:sp>
      <p:sp>
        <p:nvSpPr>
          <p:cNvPr name="TextBox 4" id="4"/>
          <p:cNvSpPr txBox="true"/>
          <p:nvPr/>
        </p:nvSpPr>
        <p:spPr>
          <a:xfrm rot="0">
            <a:off x="3407358" y="2499564"/>
            <a:ext cx="2329284" cy="541503"/>
          </a:xfrm>
          <a:prstGeom prst="rect">
            <a:avLst/>
          </a:prstGeom>
        </p:spPr>
        <p:txBody>
          <a:bodyPr anchor="t" rtlCol="false" tIns="0" lIns="0" bIns="0" rIns="0">
            <a:spAutoFit/>
          </a:bodyPr>
          <a:lstStyle/>
          <a:p>
            <a:pPr algn="ctr">
              <a:lnSpc>
                <a:spcPts val="2234"/>
              </a:lnSpc>
            </a:pPr>
            <a:r>
              <a:rPr lang="en-US" sz="1596" spc="3">
                <a:solidFill>
                  <a:srgbClr val="000000"/>
                </a:solidFill>
                <a:latin typeface="Times New Roman"/>
                <a:ea typeface="Times New Roman"/>
                <a:cs typeface="Times New Roman"/>
                <a:sym typeface="Times New Roman"/>
              </a:rPr>
              <a:t>By</a:t>
            </a:r>
          </a:p>
          <a:p>
            <a:pPr algn="ctr">
              <a:lnSpc>
                <a:spcPts val="1918"/>
              </a:lnSpc>
            </a:pPr>
            <a:r>
              <a:rPr lang="en-US" b="true" sz="1596" spc="1">
                <a:solidFill>
                  <a:srgbClr val="000000"/>
                </a:solidFill>
                <a:latin typeface="Times New Roman Bold"/>
                <a:ea typeface="Times New Roman Bold"/>
                <a:cs typeface="Times New Roman Bold"/>
                <a:sym typeface="Times New Roman Bold"/>
              </a:rPr>
              <a:t>Ankita Subhash Patil</a:t>
            </a:r>
            <a:r>
              <a:rPr lang="en-US" b="true" sz="1596" spc="1">
                <a:solidFill>
                  <a:srgbClr val="000000"/>
                </a:solidFill>
                <a:latin typeface="Times New Roman Bold"/>
                <a:ea typeface="Times New Roman Bold"/>
                <a:cs typeface="Times New Roman Bold"/>
                <a:sym typeface="Times New Roman Bold"/>
              </a:rPr>
              <a:t> (16) </a:t>
            </a:r>
          </a:p>
        </p:txBody>
      </p:sp>
      <p:sp>
        <p:nvSpPr>
          <p:cNvPr name="TextBox 5" id="5"/>
          <p:cNvSpPr txBox="true"/>
          <p:nvPr/>
        </p:nvSpPr>
        <p:spPr>
          <a:xfrm rot="0">
            <a:off x="3625205" y="3603042"/>
            <a:ext cx="1893589" cy="257585"/>
          </a:xfrm>
          <a:prstGeom prst="rect">
            <a:avLst/>
          </a:prstGeom>
        </p:spPr>
        <p:txBody>
          <a:bodyPr anchor="t" rtlCol="false" tIns="0" lIns="0" bIns="0" rIns="0">
            <a:spAutoFit/>
          </a:bodyPr>
          <a:lstStyle/>
          <a:p>
            <a:pPr algn="l">
              <a:lnSpc>
                <a:spcPts val="1919"/>
              </a:lnSpc>
            </a:pPr>
            <a:r>
              <a:rPr lang="en-US" sz="1596" spc="1">
                <a:solidFill>
                  <a:srgbClr val="000000"/>
                </a:solidFill>
                <a:latin typeface="Times New Roman"/>
                <a:ea typeface="Times New Roman"/>
                <a:cs typeface="Times New Roman"/>
                <a:sym typeface="Times New Roman"/>
              </a:rPr>
              <a:t>Under the Guidance of</a:t>
            </a:r>
          </a:p>
        </p:txBody>
      </p:sp>
      <p:sp>
        <p:nvSpPr>
          <p:cNvPr name="TextBox 6" id="6"/>
          <p:cNvSpPr txBox="true"/>
          <p:nvPr/>
        </p:nvSpPr>
        <p:spPr>
          <a:xfrm rot="0">
            <a:off x="3486150" y="3660602"/>
            <a:ext cx="2171700" cy="448568"/>
          </a:xfrm>
          <a:prstGeom prst="rect">
            <a:avLst/>
          </a:prstGeom>
        </p:spPr>
        <p:txBody>
          <a:bodyPr anchor="t" rtlCol="false" tIns="0" lIns="0" bIns="0" rIns="0">
            <a:spAutoFit/>
          </a:bodyPr>
          <a:lstStyle/>
          <a:p>
            <a:pPr algn="l">
              <a:lnSpc>
                <a:spcPts val="3843"/>
              </a:lnSpc>
            </a:pPr>
            <a:r>
              <a:rPr lang="en-US" b="true" sz="1596">
                <a:solidFill>
                  <a:srgbClr val="000000"/>
                </a:solidFill>
                <a:latin typeface="Times New Roman Bold"/>
                <a:ea typeface="Times New Roman Bold"/>
                <a:cs typeface="Times New Roman Bold"/>
                <a:sym typeface="Times New Roman Bold"/>
              </a:rPr>
              <a:t>Prof.</a:t>
            </a:r>
            <a:r>
              <a:rPr lang="en-US" b="true" sz="1596">
                <a:solidFill>
                  <a:srgbClr val="000000"/>
                </a:solidFill>
                <a:latin typeface="Times New Roman Bold"/>
                <a:ea typeface="Times New Roman Bold"/>
                <a:cs typeface="Times New Roman Bold"/>
                <a:sym typeface="Times New Roman Bold"/>
              </a:rPr>
              <a:t> </a:t>
            </a:r>
            <a:r>
              <a:rPr lang="en-US" b="true" sz="1596">
                <a:solidFill>
                  <a:srgbClr val="000000"/>
                </a:solidFill>
                <a:latin typeface="Times New Roman Bold"/>
                <a:ea typeface="Times New Roman Bold"/>
                <a:cs typeface="Times New Roman Bold"/>
                <a:sym typeface="Times New Roman Bold"/>
              </a:rPr>
              <a:t>(Dr.)</a:t>
            </a:r>
            <a:r>
              <a:rPr lang="en-US" b="true" sz="1596">
                <a:solidFill>
                  <a:srgbClr val="000000"/>
                </a:solidFill>
                <a:latin typeface="Times New Roman Bold"/>
                <a:ea typeface="Times New Roman Bold"/>
                <a:cs typeface="Times New Roman Bold"/>
                <a:sym typeface="Times New Roman Bold"/>
              </a:rPr>
              <a:t> </a:t>
            </a:r>
            <a:r>
              <a:rPr lang="en-US" b="true" sz="1596">
                <a:solidFill>
                  <a:srgbClr val="000000"/>
                </a:solidFill>
                <a:latin typeface="Times New Roman Bold"/>
                <a:ea typeface="Times New Roman Bold"/>
                <a:cs typeface="Times New Roman Bold"/>
                <a:sym typeface="Times New Roman Bold"/>
              </a:rPr>
              <a:t>Sagar</a:t>
            </a:r>
            <a:r>
              <a:rPr lang="en-US" b="true" sz="1596">
                <a:solidFill>
                  <a:srgbClr val="000000"/>
                </a:solidFill>
                <a:latin typeface="Times New Roman Bold"/>
                <a:ea typeface="Times New Roman Bold"/>
                <a:cs typeface="Times New Roman Bold"/>
                <a:sym typeface="Times New Roman Bold"/>
              </a:rPr>
              <a:t> </a:t>
            </a:r>
            <a:r>
              <a:rPr lang="en-US" b="true" sz="1596">
                <a:solidFill>
                  <a:srgbClr val="000000"/>
                </a:solidFill>
                <a:latin typeface="Times New Roman Bold"/>
                <a:ea typeface="Times New Roman Bold"/>
                <a:cs typeface="Times New Roman Bold"/>
                <a:sym typeface="Times New Roman Bold"/>
              </a:rPr>
              <a:t>Shinde</a:t>
            </a:r>
          </a:p>
        </p:txBody>
      </p:sp>
      <p:sp>
        <p:nvSpPr>
          <p:cNvPr name="TextBox 7" id="7"/>
          <p:cNvSpPr txBox="true"/>
          <p:nvPr/>
        </p:nvSpPr>
        <p:spPr>
          <a:xfrm rot="0">
            <a:off x="1293528" y="4137745"/>
            <a:ext cx="6556943" cy="438560"/>
          </a:xfrm>
          <a:prstGeom prst="rect">
            <a:avLst/>
          </a:prstGeom>
        </p:spPr>
        <p:txBody>
          <a:bodyPr anchor="t" rtlCol="false" tIns="0" lIns="0" bIns="0" rIns="0">
            <a:spAutoFit/>
          </a:bodyPr>
          <a:lstStyle/>
          <a:p>
            <a:pPr algn="l">
              <a:lnSpc>
                <a:spcPts val="3843"/>
              </a:lnSpc>
            </a:pPr>
            <a:r>
              <a:rPr lang="en-US" b="true" sz="1596" spc="1">
                <a:solidFill>
                  <a:srgbClr val="000000"/>
                </a:solidFill>
                <a:latin typeface="Times New Roman Bold"/>
                <a:ea typeface="Times New Roman Bold"/>
                <a:cs typeface="Times New Roman Bold"/>
                <a:sym typeface="Times New Roman Bold"/>
              </a:rPr>
              <a:t>Department of Computer Science and Engineering (Artificial Intelligence)</a:t>
            </a:r>
          </a:p>
        </p:txBody>
      </p:sp>
      <p:sp>
        <p:nvSpPr>
          <p:cNvPr name="TextBox 8" id="8"/>
          <p:cNvSpPr txBox="true"/>
          <p:nvPr/>
        </p:nvSpPr>
        <p:spPr>
          <a:xfrm rot="0">
            <a:off x="909935" y="1546148"/>
            <a:ext cx="7337721" cy="690982"/>
          </a:xfrm>
          <a:prstGeom prst="rect">
            <a:avLst/>
          </a:prstGeom>
        </p:spPr>
        <p:txBody>
          <a:bodyPr anchor="t" rtlCol="false" tIns="0" lIns="0" bIns="0" rIns="0">
            <a:spAutoFit/>
          </a:bodyPr>
          <a:lstStyle/>
          <a:p>
            <a:pPr algn="ctr">
              <a:lnSpc>
                <a:spcPts val="2654"/>
              </a:lnSpc>
            </a:pPr>
            <a:r>
              <a:rPr lang="en-US" b="true" sz="1895">
                <a:solidFill>
                  <a:srgbClr val="000000"/>
                </a:solidFill>
                <a:latin typeface="Times New Roman Bold"/>
                <a:ea typeface="Times New Roman Bold"/>
                <a:cs typeface="Times New Roman Bold"/>
                <a:sym typeface="Times New Roman Bold"/>
              </a:rPr>
              <a:t>Earl</a:t>
            </a:r>
            <a:r>
              <a:rPr lang="en-US" b="true" sz="1895">
                <a:solidFill>
                  <a:srgbClr val="000000"/>
                </a:solidFill>
                <a:latin typeface="Times New Roman Bold"/>
                <a:ea typeface="Times New Roman Bold"/>
                <a:cs typeface="Times New Roman Bold"/>
                <a:sym typeface="Times New Roman Bold"/>
              </a:rPr>
              <a:t>y Detection of Oral Cancer and Other Dental Pathologies Using EfficientNet-B0.</a:t>
            </a:r>
          </a:p>
        </p:txBody>
      </p:sp>
      <p:sp>
        <p:nvSpPr>
          <p:cNvPr name="TextBox 9" id="9"/>
          <p:cNvSpPr txBox="true"/>
          <p:nvPr/>
        </p:nvSpPr>
        <p:spPr>
          <a:xfrm rot="0">
            <a:off x="342900" y="4744498"/>
            <a:ext cx="2453640" cy="290871"/>
          </a:xfrm>
          <a:prstGeom prst="rect">
            <a:avLst/>
          </a:prstGeom>
        </p:spPr>
        <p:txBody>
          <a:bodyPr anchor="t" rtlCol="false" tIns="0" lIns="0" bIns="0" rIns="0">
            <a:spAutoFit/>
          </a:bodyPr>
          <a:lstStyle/>
          <a:p>
            <a:pPr algn="l">
              <a:lnSpc>
                <a:spcPts val="2237"/>
              </a:lnSpc>
            </a:pPr>
            <a:r>
              <a:rPr lang="en-US" b="true" sz="1598">
                <a:solidFill>
                  <a:srgbClr val="000000"/>
                </a:solidFill>
                <a:latin typeface="Times New Roman Bold"/>
                <a:ea typeface="Times New Roman Bold"/>
                <a:cs typeface="Times New Roman Bold"/>
                <a:sym typeface="Times New Roman Bold"/>
              </a:rPr>
              <a:t>Thursday</a:t>
            </a:r>
            <a:r>
              <a:rPr lang="en-US" b="true" sz="1598">
                <a:solidFill>
                  <a:srgbClr val="000000"/>
                </a:solidFill>
                <a:latin typeface="Times New Roman Bold"/>
                <a:ea typeface="Times New Roman Bold"/>
                <a:cs typeface="Times New Roman Bold"/>
                <a:sym typeface="Times New Roman Bold"/>
              </a:rPr>
              <a:t>, 22 January 2026</a:t>
            </a:r>
          </a:p>
        </p:txBody>
      </p:sp>
      <p:sp>
        <p:nvSpPr>
          <p:cNvPr name="Freeform 10" id="10"/>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11" id="11"/>
          <p:cNvSpPr txBox="true"/>
          <p:nvPr/>
        </p:nvSpPr>
        <p:spPr>
          <a:xfrm rot="0">
            <a:off x="8479536" y="4810906"/>
            <a:ext cx="53340" cy="3199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a:t>
            </a:r>
          </a:p>
          <a:p>
            <a:pPr algn="l">
              <a:lnSpc>
                <a:spcPts val="1263"/>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601595"/>
            <a:ext cx="3411387" cy="3313309"/>
          </a:xfrm>
          <a:custGeom>
            <a:avLst/>
            <a:gdLst/>
            <a:ahLst/>
            <a:cxnLst/>
            <a:rect r="r" b="b" t="t" l="l"/>
            <a:pathLst>
              <a:path h="3313309" w="3411387">
                <a:moveTo>
                  <a:pt x="0" y="0"/>
                </a:moveTo>
                <a:lnTo>
                  <a:pt x="3411387" y="0"/>
                </a:lnTo>
                <a:lnTo>
                  <a:pt x="3411387" y="3313310"/>
                </a:lnTo>
                <a:lnTo>
                  <a:pt x="0" y="3313310"/>
                </a:lnTo>
                <a:lnTo>
                  <a:pt x="0" y="0"/>
                </a:lnTo>
                <a:close/>
              </a:path>
            </a:pathLst>
          </a:custGeom>
          <a:blipFill>
            <a:blip r:embed="rId2"/>
            <a:stretch>
              <a:fillRect l="0" t="0" r="0" b="0"/>
            </a:stretch>
          </a:blipFill>
        </p:spPr>
      </p:sp>
      <p:sp>
        <p:nvSpPr>
          <p:cNvPr name="TextBox 3" id="3"/>
          <p:cNvSpPr txBox="true"/>
          <p:nvPr/>
        </p:nvSpPr>
        <p:spPr>
          <a:xfrm rot="0">
            <a:off x="1970532" y="977597"/>
            <a:ext cx="5315741" cy="485623"/>
          </a:xfrm>
          <a:prstGeom prst="rect">
            <a:avLst/>
          </a:prstGeom>
        </p:spPr>
        <p:txBody>
          <a:bodyPr anchor="t" rtlCol="false" tIns="0" lIns="0" bIns="0" rIns="0">
            <a:spAutoFit/>
          </a:bodyPr>
          <a:lstStyle/>
          <a:p>
            <a:pPr algn="ctr">
              <a:lnSpc>
                <a:spcPts val="3721"/>
              </a:lnSpc>
            </a:pPr>
            <a:r>
              <a:rPr lang="en-US" b="true" sz="2799">
                <a:solidFill>
                  <a:srgbClr val="000000"/>
                </a:solidFill>
                <a:latin typeface="Times New Roman Bold"/>
                <a:ea typeface="Times New Roman Bold"/>
                <a:cs typeface="Times New Roman Bold"/>
                <a:sym typeface="Times New Roman Bold"/>
              </a:rPr>
              <a:t>Introduction and Background</a:t>
            </a:r>
          </a:p>
        </p:txBody>
      </p:sp>
      <p:sp>
        <p:nvSpPr>
          <p:cNvPr name="TextBox 4" id="4"/>
          <p:cNvSpPr txBox="true"/>
          <p:nvPr/>
        </p:nvSpPr>
        <p:spPr>
          <a:xfrm rot="0">
            <a:off x="5319398" y="1543136"/>
            <a:ext cx="51768" cy="400822"/>
          </a:xfrm>
          <a:prstGeom prst="rect">
            <a:avLst/>
          </a:prstGeom>
        </p:spPr>
        <p:txBody>
          <a:bodyPr anchor="t" rtlCol="false" tIns="0" lIns="0" bIns="0" rIns="0">
            <a:spAutoFit/>
          </a:bodyPr>
          <a:lstStyle/>
          <a:p>
            <a:pPr algn="l">
              <a:lnSpc>
                <a:spcPts val="3442"/>
              </a:lnSpc>
            </a:pPr>
            <a:r>
              <a:rPr lang="en-US" b="true" sz="1598" spc="1278">
                <a:solidFill>
                  <a:srgbClr val="000000"/>
                </a:solidFill>
                <a:latin typeface="Times New Roman Bold"/>
                <a:ea typeface="Times New Roman Bold"/>
                <a:cs typeface="Times New Roman Bold"/>
                <a:sym typeface="Times New Roman Bold"/>
              </a:rPr>
              <a:t> </a:t>
            </a:r>
          </a:p>
        </p:txBody>
      </p:sp>
      <p:sp>
        <p:nvSpPr>
          <p:cNvPr name="TextBox 5" id="5"/>
          <p:cNvSpPr txBox="true"/>
          <p:nvPr/>
        </p:nvSpPr>
        <p:spPr>
          <a:xfrm rot="0">
            <a:off x="3424391" y="1582545"/>
            <a:ext cx="5532769" cy="3605149"/>
          </a:xfrm>
          <a:prstGeom prst="rect">
            <a:avLst/>
          </a:prstGeom>
        </p:spPr>
        <p:txBody>
          <a:bodyPr anchor="t" rtlCol="false" tIns="0" lIns="0" bIns="0" rIns="0">
            <a:spAutoFit/>
          </a:bodyPr>
          <a:lstStyle/>
          <a:p>
            <a:pPr algn="just">
              <a:lnSpc>
                <a:spcPts val="1927"/>
              </a:lnSpc>
            </a:pPr>
            <a:r>
              <a:rPr lang="en-US" sz="1599">
                <a:solidFill>
                  <a:srgbClr val="000000"/>
                </a:solidFill>
                <a:latin typeface="Times New Roman"/>
                <a:ea typeface="Times New Roman"/>
                <a:cs typeface="Times New Roman"/>
                <a:sym typeface="Times New Roman"/>
              </a:rPr>
              <a:t>Oral</a:t>
            </a:r>
            <a:r>
              <a:rPr lang="en-US" sz="1599">
                <a:solidFill>
                  <a:srgbClr val="000000"/>
                </a:solidFill>
                <a:latin typeface="Times New Roman"/>
                <a:ea typeface="Times New Roman"/>
                <a:cs typeface="Times New Roman"/>
                <a:sym typeface="Times New Roman"/>
              </a:rPr>
              <a:t> Health Screening uses intraoral images and deep learning models to detect oral diseases at an early stage.</a:t>
            </a:r>
          </a:p>
          <a:p>
            <a:pPr algn="just">
              <a:lnSpc>
                <a:spcPts val="1927"/>
              </a:lnSpc>
            </a:pPr>
          </a:p>
          <a:p>
            <a:pPr algn="just">
              <a:lnSpc>
                <a:spcPts val="1927"/>
              </a:lnSpc>
            </a:pPr>
            <a:r>
              <a:rPr lang="en-US" b="true" sz="1599">
                <a:solidFill>
                  <a:srgbClr val="000000"/>
                </a:solidFill>
                <a:latin typeface="Times New Roman Bold"/>
                <a:ea typeface="Times New Roman Bold"/>
                <a:cs typeface="Times New Roman Bold"/>
                <a:sym typeface="Times New Roman Bold"/>
              </a:rPr>
              <a:t>The Challenge: </a:t>
            </a:r>
            <a:r>
              <a:rPr lang="en-US" sz="1599">
                <a:solidFill>
                  <a:srgbClr val="000000"/>
                </a:solidFill>
                <a:latin typeface="Times New Roman"/>
                <a:ea typeface="Times New Roman"/>
                <a:cs typeface="Times New Roman"/>
                <a:sym typeface="Times New Roman"/>
              </a:rPr>
              <a:t> Manual diagnosis of oral cancer and dental pathologies depends on expert availability, is time-consuming, and often results in late or inconsistent detection, especially in resource-limited settings.</a:t>
            </a:r>
          </a:p>
          <a:p>
            <a:pPr algn="just">
              <a:lnSpc>
                <a:spcPts val="1927"/>
              </a:lnSpc>
            </a:pPr>
          </a:p>
          <a:p>
            <a:pPr algn="just">
              <a:lnSpc>
                <a:spcPts val="1927"/>
              </a:lnSpc>
            </a:pPr>
            <a:r>
              <a:rPr lang="en-US" b="true" sz="1599">
                <a:solidFill>
                  <a:srgbClr val="000000"/>
                </a:solidFill>
                <a:latin typeface="Times New Roman Bold"/>
                <a:ea typeface="Times New Roman Bold"/>
                <a:cs typeface="Times New Roman Bold"/>
                <a:sym typeface="Times New Roman Bold"/>
              </a:rPr>
              <a:t>The Solution: </a:t>
            </a:r>
            <a:r>
              <a:rPr lang="en-US" sz="1599">
                <a:solidFill>
                  <a:srgbClr val="000000"/>
                </a:solidFill>
                <a:latin typeface="Times New Roman"/>
                <a:ea typeface="Times New Roman"/>
                <a:cs typeface="Times New Roman"/>
                <a:sym typeface="Times New Roman"/>
              </a:rPr>
              <a:t>Deep learning models such as EfficientNet-B0 can automatically analyze intraoral images and accurately classify multiple oral conditions, enabling faster and objective diagnosis.</a:t>
            </a:r>
          </a:p>
          <a:p>
            <a:pPr algn="just" marL="345439" indent="-172720" lvl="1">
              <a:lnSpc>
                <a:spcPts val="1927"/>
              </a:lnSpc>
              <a:buFont typeface="Arial"/>
              <a:buChar char="•"/>
            </a:pPr>
            <a:r>
              <a:rPr lang="en-US" sz="1599">
                <a:solidFill>
                  <a:srgbClr val="000000"/>
                </a:solidFill>
                <a:latin typeface="Times New Roman"/>
                <a:ea typeface="Times New Roman"/>
                <a:cs typeface="Times New Roman"/>
                <a:sym typeface="Times New Roman"/>
              </a:rPr>
              <a:t>Digital Healthcare &amp; AI are trans</a:t>
            </a:r>
            <a:r>
              <a:rPr lang="en-US" sz="1599">
                <a:solidFill>
                  <a:srgbClr val="000000"/>
                </a:solidFill>
                <a:latin typeface="Times New Roman"/>
                <a:ea typeface="Times New Roman"/>
                <a:cs typeface="Times New Roman"/>
                <a:sym typeface="Times New Roman"/>
              </a:rPr>
              <a:t>fo</a:t>
            </a:r>
            <a:r>
              <a:rPr lang="en-US" sz="1599">
                <a:solidFill>
                  <a:srgbClr val="000000"/>
                </a:solidFill>
                <a:latin typeface="Times New Roman"/>
                <a:ea typeface="Times New Roman"/>
                <a:cs typeface="Times New Roman"/>
                <a:sym typeface="Times New Roman"/>
              </a:rPr>
              <a:t>r</a:t>
            </a:r>
            <a:r>
              <a:rPr lang="en-US" sz="1599">
                <a:solidFill>
                  <a:srgbClr val="000000"/>
                </a:solidFill>
                <a:latin typeface="Times New Roman"/>
                <a:ea typeface="Times New Roman"/>
                <a:cs typeface="Times New Roman"/>
                <a:sym typeface="Times New Roman"/>
              </a:rPr>
              <a:t>ming</a:t>
            </a:r>
            <a:r>
              <a:rPr lang="en-US" sz="1599">
                <a:solidFill>
                  <a:srgbClr val="000000"/>
                </a:solidFill>
                <a:latin typeface="Times New Roman"/>
                <a:ea typeface="Times New Roman"/>
                <a:cs typeface="Times New Roman"/>
                <a:sym typeface="Times New Roman"/>
              </a:rPr>
              <a:t> </a:t>
            </a:r>
            <a:r>
              <a:rPr lang="en-US" sz="1599">
                <a:solidFill>
                  <a:srgbClr val="000000"/>
                </a:solidFill>
                <a:latin typeface="Times New Roman"/>
                <a:ea typeface="Times New Roman"/>
                <a:cs typeface="Times New Roman"/>
                <a:sym typeface="Times New Roman"/>
              </a:rPr>
              <a:t>m</a:t>
            </a:r>
            <a:r>
              <a:rPr lang="en-US" sz="1599">
                <a:solidFill>
                  <a:srgbClr val="000000"/>
                </a:solidFill>
                <a:latin typeface="Times New Roman"/>
                <a:ea typeface="Times New Roman"/>
                <a:cs typeface="Times New Roman"/>
                <a:sym typeface="Times New Roman"/>
              </a:rPr>
              <a:t>odern medical diagnostics, making early detection, accessibility, and clinical decision support more critical than ever.</a:t>
            </a:r>
          </a:p>
          <a:p>
            <a:pPr algn="just">
              <a:lnSpc>
                <a:spcPts val="1927"/>
              </a:lnSpc>
            </a:pPr>
          </a:p>
        </p:txBody>
      </p:sp>
      <p:sp>
        <p:nvSpPr>
          <p:cNvPr name="Freeform 6" id="6"/>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5"/>
            <a:stretch>
              <a:fillRect l="0" t="0" r="0" b="-1078"/>
            </a:stretch>
          </a:blipFill>
        </p:spPr>
      </p:sp>
      <p:sp>
        <p:nvSpPr>
          <p:cNvPr name="TextBox 8" id="8"/>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003547" y="1037968"/>
            <a:ext cx="3200514" cy="457346"/>
          </a:xfrm>
          <a:prstGeom prst="rect">
            <a:avLst/>
          </a:prstGeom>
        </p:spPr>
        <p:txBody>
          <a:bodyPr anchor="t" rtlCol="false" tIns="0" lIns="0" bIns="0" rIns="0">
            <a:spAutoFit/>
          </a:bodyPr>
          <a:lstStyle/>
          <a:p>
            <a:pPr algn="ctr">
              <a:lnSpc>
                <a:spcPts val="3421"/>
              </a:lnSpc>
            </a:pPr>
            <a:r>
              <a:rPr lang="en-US" b="true" sz="2802">
                <a:solidFill>
                  <a:srgbClr val="000000"/>
                </a:solidFill>
                <a:latin typeface="Times New Roman Bold"/>
                <a:ea typeface="Times New Roman Bold"/>
                <a:cs typeface="Times New Roman Bold"/>
                <a:sym typeface="Times New Roman Bold"/>
              </a:rPr>
              <a:t>Problem Statement</a:t>
            </a:r>
          </a:p>
        </p:txBody>
      </p:sp>
      <p:sp>
        <p:nvSpPr>
          <p:cNvPr name="TextBox 3" id="3"/>
          <p:cNvSpPr txBox="true"/>
          <p:nvPr/>
        </p:nvSpPr>
        <p:spPr>
          <a:xfrm rot="0">
            <a:off x="2764793" y="1443476"/>
            <a:ext cx="58293" cy="516684"/>
          </a:xfrm>
          <a:prstGeom prst="rect">
            <a:avLst/>
          </a:prstGeom>
        </p:spPr>
        <p:txBody>
          <a:bodyPr anchor="t" rtlCol="false" tIns="0" lIns="0" bIns="0" rIns="0">
            <a:spAutoFit/>
          </a:bodyPr>
          <a:lstStyle/>
          <a:p>
            <a:pPr algn="l">
              <a:lnSpc>
                <a:spcPts val="4500"/>
              </a:lnSpc>
            </a:pPr>
            <a:r>
              <a:rPr lang="en-US" b="true" sz="1800">
                <a:solidFill>
                  <a:srgbClr val="FF0000"/>
                </a:solidFill>
                <a:latin typeface="Times New Roman Bold"/>
                <a:ea typeface="Times New Roman Bold"/>
                <a:cs typeface="Times New Roman Bold"/>
                <a:sym typeface="Times New Roman Bold"/>
              </a:rPr>
              <a:t> </a:t>
            </a:r>
          </a:p>
        </p:txBody>
      </p:sp>
      <p:sp>
        <p:nvSpPr>
          <p:cNvPr name="TextBox 4" id="4"/>
          <p:cNvSpPr txBox="true"/>
          <p:nvPr/>
        </p:nvSpPr>
        <p:spPr>
          <a:xfrm rot="0">
            <a:off x="404343" y="1649749"/>
            <a:ext cx="8398922" cy="3199257"/>
          </a:xfrm>
          <a:prstGeom prst="rect">
            <a:avLst/>
          </a:prstGeom>
        </p:spPr>
        <p:txBody>
          <a:bodyPr anchor="t" rtlCol="false" tIns="0" lIns="0" bIns="0" rIns="0">
            <a:spAutoFit/>
          </a:bodyPr>
          <a:lstStyle/>
          <a:p>
            <a:pPr algn="just">
              <a:lnSpc>
                <a:spcPts val="1944"/>
              </a:lnSpc>
            </a:pPr>
            <a:r>
              <a:rPr lang="en-US" sz="1800" b="true">
                <a:solidFill>
                  <a:srgbClr val="FF0000"/>
                </a:solidFill>
                <a:latin typeface="Times New Roman Bold"/>
                <a:ea typeface="Times New Roman Bold"/>
                <a:cs typeface="Times New Roman Bold"/>
                <a:sym typeface="Times New Roman Bold"/>
              </a:rPr>
              <a:t>Problem Statement - </a:t>
            </a:r>
            <a:r>
              <a:rPr lang="en-US" sz="1800" b="true">
                <a:solidFill>
                  <a:srgbClr val="000000"/>
                </a:solidFill>
                <a:latin typeface="Times New Roman Bold"/>
                <a:ea typeface="Times New Roman Bold"/>
                <a:cs typeface="Times New Roman Bold"/>
                <a:sym typeface="Times New Roman Bold"/>
              </a:rPr>
              <a:t>Late detection of oral diseases: </a:t>
            </a:r>
          </a:p>
          <a:p>
            <a:pPr algn="just" marL="388620" indent="-194310" lvl="1">
              <a:lnSpc>
                <a:spcPts val="1944"/>
              </a:lnSpc>
              <a:buFont typeface="Arial"/>
              <a:buChar char="•"/>
            </a:pPr>
            <a:r>
              <a:rPr lang="en-US" b="true" sz="1800">
                <a:solidFill>
                  <a:srgbClr val="000000"/>
                </a:solidFill>
                <a:latin typeface="Times New Roman Bold"/>
                <a:ea typeface="Times New Roman Bold"/>
                <a:cs typeface="Times New Roman Bold"/>
                <a:sym typeface="Times New Roman Bold"/>
              </a:rPr>
              <a:t>Oral cancer and dental pathologies are often identified at advanced stages due to dependence on manual visual examination and expert availability, leading to delayed treatment and poor patient outcomes.</a:t>
            </a:r>
          </a:p>
          <a:p>
            <a:pPr algn="just">
              <a:lnSpc>
                <a:spcPts val="1944"/>
              </a:lnSpc>
            </a:pPr>
          </a:p>
          <a:p>
            <a:pPr algn="just">
              <a:lnSpc>
                <a:spcPts val="1944"/>
              </a:lnSpc>
            </a:pPr>
            <a:r>
              <a:rPr lang="en-US" sz="1800" b="true">
                <a:solidFill>
                  <a:srgbClr val="FF0000"/>
                </a:solidFill>
                <a:latin typeface="Times New Roman Bold"/>
                <a:ea typeface="Times New Roman Bold"/>
                <a:cs typeface="Times New Roman Bold"/>
                <a:sym typeface="Times New Roman Bold"/>
              </a:rPr>
              <a:t>Problem 01 - </a:t>
            </a:r>
            <a:r>
              <a:rPr lang="en-US" sz="1800" b="true">
                <a:solidFill>
                  <a:srgbClr val="000000"/>
                </a:solidFill>
                <a:latin typeface="Times New Roman Bold"/>
                <a:ea typeface="Times New Roman Bold"/>
                <a:cs typeface="Times New Roman Bold"/>
                <a:sym typeface="Times New Roman Bold"/>
              </a:rPr>
              <a:t>Limited and imbalanced medical image data:</a:t>
            </a:r>
          </a:p>
          <a:p>
            <a:pPr algn="just" marL="388620" indent="-194310" lvl="1">
              <a:lnSpc>
                <a:spcPts val="1944"/>
              </a:lnSpc>
              <a:buFont typeface="Arial"/>
              <a:buChar char="•"/>
            </a:pPr>
            <a:r>
              <a:rPr lang="en-US" b="true" sz="1800">
                <a:solidFill>
                  <a:srgbClr val="000000"/>
                </a:solidFill>
                <a:latin typeface="Times New Roman Bold"/>
                <a:ea typeface="Times New Roman Bold"/>
                <a:cs typeface="Times New Roman Bold"/>
                <a:sym typeface="Times New Roman Bold"/>
              </a:rPr>
              <a:t>Oral disease datasets are often small and imbalanced, with fewer samples for cancer cases, causing AI models to struggle in learning rare but critical patterns.</a:t>
            </a:r>
          </a:p>
          <a:p>
            <a:pPr algn="just">
              <a:lnSpc>
                <a:spcPts val="1944"/>
              </a:lnSpc>
            </a:pPr>
          </a:p>
          <a:p>
            <a:pPr algn="just">
              <a:lnSpc>
                <a:spcPts val="1944"/>
              </a:lnSpc>
            </a:pPr>
            <a:r>
              <a:rPr lang="en-US" sz="1800" b="true">
                <a:solidFill>
                  <a:srgbClr val="FF0000"/>
                </a:solidFill>
                <a:latin typeface="Times New Roman Bold"/>
                <a:ea typeface="Times New Roman Bold"/>
                <a:cs typeface="Times New Roman Bold"/>
                <a:sym typeface="Times New Roman Bold"/>
              </a:rPr>
              <a:t>Problem 02 - </a:t>
            </a:r>
            <a:r>
              <a:rPr lang="en-US" sz="1800" b="true">
                <a:solidFill>
                  <a:srgbClr val="000000"/>
                </a:solidFill>
                <a:latin typeface="Times New Roman Bold"/>
                <a:ea typeface="Times New Roman Bold"/>
                <a:cs typeface="Times New Roman Bold"/>
                <a:sym typeface="Times New Roman Bold"/>
              </a:rPr>
              <a:t>Limitations of traditional diagnostic approaches:</a:t>
            </a:r>
          </a:p>
          <a:p>
            <a:pPr algn="just" marL="388620" indent="-194310" lvl="1">
              <a:lnSpc>
                <a:spcPts val="1944"/>
              </a:lnSpc>
              <a:buFont typeface="Arial"/>
              <a:buChar char="•"/>
            </a:pPr>
            <a:r>
              <a:rPr lang="en-US" b="true" sz="1800">
                <a:solidFill>
                  <a:srgbClr val="000000"/>
                </a:solidFill>
                <a:latin typeface="Times New Roman Bold"/>
                <a:ea typeface="Times New Roman Bold"/>
                <a:cs typeface="Times New Roman Bold"/>
                <a:sym typeface="Times New Roman Bold"/>
              </a:rPr>
              <a:t>Conventional screening methods are subjective, time-consuming, and lack consistency, making large-scale and early oral health screening difficult.</a:t>
            </a:r>
          </a:p>
          <a:p>
            <a:pPr algn="just">
              <a:lnSpc>
                <a:spcPts val="1944"/>
              </a:lnSpc>
            </a:pPr>
          </a:p>
        </p:txBody>
      </p:sp>
      <p:sp>
        <p:nvSpPr>
          <p:cNvPr name="Freeform 5" id="5"/>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7" id="7"/>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151375" y="784936"/>
            <a:ext cx="2897534" cy="661870"/>
          </a:xfrm>
          <a:prstGeom prst="rect">
            <a:avLst/>
          </a:prstGeom>
        </p:spPr>
        <p:txBody>
          <a:bodyPr anchor="t" rtlCol="false" tIns="0" lIns="0" bIns="0" rIns="0">
            <a:spAutoFit/>
          </a:bodyPr>
          <a:lstStyle/>
          <a:p>
            <a:pPr algn="ctr">
              <a:lnSpc>
                <a:spcPts val="1638"/>
              </a:lnSpc>
            </a:pPr>
            <a:r>
              <a:rPr lang="en-US" b="true" sz="1000">
                <a:solidFill>
                  <a:srgbClr val="000000"/>
                </a:solidFill>
                <a:latin typeface="Times New Roman Bold"/>
                <a:ea typeface="Times New Roman Bold"/>
                <a:cs typeface="Times New Roman Bold"/>
                <a:sym typeface="Times New Roman Bold"/>
              </a:rPr>
              <a:t>Major Project Topic Presentation</a:t>
            </a:r>
          </a:p>
          <a:p>
            <a:pPr algn="ctr">
              <a:lnSpc>
                <a:spcPts val="3421"/>
              </a:lnSpc>
            </a:pPr>
            <a:r>
              <a:rPr lang="en-US" b="true" sz="2802">
                <a:solidFill>
                  <a:srgbClr val="000000"/>
                </a:solidFill>
                <a:latin typeface="Times New Roman Bold"/>
                <a:ea typeface="Times New Roman Bold"/>
                <a:cs typeface="Times New Roman Bold"/>
                <a:sym typeface="Times New Roman Bold"/>
              </a:rPr>
              <a:t>Problem Solution</a:t>
            </a:r>
          </a:p>
        </p:txBody>
      </p:sp>
      <p:sp>
        <p:nvSpPr>
          <p:cNvPr name="TextBox 3" id="3"/>
          <p:cNvSpPr txBox="true"/>
          <p:nvPr/>
        </p:nvSpPr>
        <p:spPr>
          <a:xfrm rot="0">
            <a:off x="3072641" y="1470908"/>
            <a:ext cx="58293" cy="516684"/>
          </a:xfrm>
          <a:prstGeom prst="rect">
            <a:avLst/>
          </a:prstGeom>
        </p:spPr>
        <p:txBody>
          <a:bodyPr anchor="t" rtlCol="false" tIns="0" lIns="0" bIns="0" rIns="0">
            <a:spAutoFit/>
          </a:bodyPr>
          <a:lstStyle/>
          <a:p>
            <a:pPr algn="l">
              <a:lnSpc>
                <a:spcPts val="4500"/>
              </a:lnSpc>
            </a:pPr>
            <a:r>
              <a:rPr lang="en-US" b="true" sz="1800">
                <a:solidFill>
                  <a:srgbClr val="000000"/>
                </a:solidFill>
                <a:latin typeface="Times New Roman Bold"/>
                <a:ea typeface="Times New Roman Bold"/>
                <a:cs typeface="Times New Roman Bold"/>
                <a:sym typeface="Times New Roman Bold"/>
              </a:rPr>
              <a:t> </a:t>
            </a:r>
          </a:p>
        </p:txBody>
      </p:sp>
      <p:sp>
        <p:nvSpPr>
          <p:cNvPr name="TextBox 4" id="4"/>
          <p:cNvSpPr txBox="true"/>
          <p:nvPr/>
        </p:nvSpPr>
        <p:spPr>
          <a:xfrm rot="0">
            <a:off x="514350" y="1533287"/>
            <a:ext cx="7906963" cy="3352165"/>
          </a:xfrm>
          <a:prstGeom prst="rect">
            <a:avLst/>
          </a:prstGeom>
        </p:spPr>
        <p:txBody>
          <a:bodyPr anchor="t" rtlCol="false" tIns="0" lIns="0" bIns="0" rIns="0">
            <a:spAutoFit/>
          </a:bodyPr>
          <a:lstStyle/>
          <a:p>
            <a:pPr algn="just" marL="345439" indent="-172720" lvl="1">
              <a:lnSpc>
                <a:spcPts val="2239"/>
              </a:lnSpc>
              <a:buFont typeface="Arial"/>
              <a:buChar char="•"/>
            </a:pPr>
            <a:r>
              <a:rPr lang="en-US" b="true" sz="1599">
                <a:solidFill>
                  <a:srgbClr val="000000"/>
                </a:solidFill>
                <a:latin typeface="Arial Bold"/>
                <a:ea typeface="Arial Bold"/>
                <a:cs typeface="Arial Bold"/>
                <a:sym typeface="Arial Bold"/>
              </a:rPr>
              <a:t>Deep Learning–Based Approach: </a:t>
            </a:r>
            <a:r>
              <a:rPr lang="en-US" sz="1599">
                <a:solidFill>
                  <a:srgbClr val="000000"/>
                </a:solidFill>
                <a:latin typeface="Arial"/>
                <a:ea typeface="Arial"/>
                <a:cs typeface="Arial"/>
                <a:sym typeface="Arial"/>
              </a:rPr>
              <a:t>Implementation of EfficientNet-B0 architecture, which leverages optimized convolutional layers and transfer learning to accurately extract discriminative features from intraoral images.</a:t>
            </a:r>
          </a:p>
          <a:p>
            <a:pPr algn="just" marL="345439" indent="-172720" lvl="1">
              <a:lnSpc>
                <a:spcPts val="2239"/>
              </a:lnSpc>
              <a:buFont typeface="Arial"/>
              <a:buChar char="•"/>
            </a:pPr>
            <a:r>
              <a:rPr lang="en-US" b="true" sz="1599">
                <a:solidFill>
                  <a:srgbClr val="000000"/>
                </a:solidFill>
                <a:latin typeface="Arial Bold"/>
                <a:ea typeface="Arial Bold"/>
                <a:cs typeface="Arial Bold"/>
                <a:sym typeface="Arial Bold"/>
              </a:rPr>
              <a:t>Transfer Learning Strategy: </a:t>
            </a:r>
            <a:r>
              <a:rPr lang="en-US" sz="1599">
                <a:solidFill>
                  <a:srgbClr val="000000"/>
                </a:solidFill>
                <a:latin typeface="Arial"/>
                <a:ea typeface="Arial"/>
                <a:cs typeface="Arial"/>
                <a:sym typeface="Arial"/>
              </a:rPr>
              <a:t>Utilizing ImageNet pre-trained weights to overcome limited and imbalanced medical image datasets and improve model generalization.</a:t>
            </a:r>
          </a:p>
          <a:p>
            <a:pPr algn="just" marL="345439" indent="-172720" lvl="1">
              <a:lnSpc>
                <a:spcPts val="2239"/>
              </a:lnSpc>
              <a:buFont typeface="Arial"/>
              <a:buChar char="•"/>
            </a:pPr>
            <a:r>
              <a:rPr lang="en-US" b="true" sz="1599">
                <a:solidFill>
                  <a:srgbClr val="000000"/>
                </a:solidFill>
                <a:latin typeface="Arial Bold"/>
                <a:ea typeface="Arial Bold"/>
                <a:cs typeface="Arial Bold"/>
                <a:sym typeface="Arial Bold"/>
              </a:rPr>
              <a:t>Multi-Class Disease Classification: </a:t>
            </a:r>
            <a:r>
              <a:rPr lang="en-US" sz="1599">
                <a:solidFill>
                  <a:srgbClr val="000000"/>
                </a:solidFill>
                <a:latin typeface="Arial"/>
                <a:ea typeface="Arial"/>
                <a:cs typeface="Arial"/>
                <a:sym typeface="Arial"/>
              </a:rPr>
              <a:t>Designing a unified model capable of detecting oral cancer and multiple dental pathologies (caries, gingivitis, hypodontia, discoloration, normal) simultaneously.</a:t>
            </a:r>
          </a:p>
          <a:p>
            <a:pPr algn="just" marL="345439" indent="-172720" lvl="1">
              <a:lnSpc>
                <a:spcPts val="2239"/>
              </a:lnSpc>
              <a:buFont typeface="Arial"/>
              <a:buChar char="•"/>
            </a:pPr>
            <a:r>
              <a:rPr lang="en-US" b="true" sz="1599">
                <a:solidFill>
                  <a:srgbClr val="000000"/>
                </a:solidFill>
                <a:latin typeface="Arial Bold"/>
                <a:ea typeface="Arial Bold"/>
                <a:cs typeface="Arial Bold"/>
                <a:sym typeface="Arial Bold"/>
              </a:rPr>
              <a:t>Explainable AI (XAI): </a:t>
            </a:r>
            <a:r>
              <a:rPr lang="en-US" sz="1599">
                <a:solidFill>
                  <a:srgbClr val="000000"/>
                </a:solidFill>
                <a:latin typeface="Arial"/>
                <a:ea typeface="Arial"/>
                <a:cs typeface="Arial"/>
                <a:sym typeface="Arial"/>
              </a:rPr>
              <a:t>Integration of Grad-CAM visualization to highlight lesion regions in intraoral images, enabling interpretability and improving clinical trust in AI-assisted diagnosis.</a:t>
            </a:r>
          </a:p>
          <a:p>
            <a:pPr algn="just">
              <a:lnSpc>
                <a:spcPts val="2239"/>
              </a:lnSpc>
            </a:pPr>
          </a:p>
        </p:txBody>
      </p:sp>
      <p:sp>
        <p:nvSpPr>
          <p:cNvPr name="Freeform 5" id="5"/>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7" id="7"/>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12253" y="1457773"/>
          <a:ext cx="8115300" cy="3246120"/>
        </p:xfrm>
        <a:graphic>
          <a:graphicData uri="http://schemas.openxmlformats.org/presentationml/2006/ole">
            <p:oleObj imgW="9728200" imgH="48641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192780" y="1009393"/>
            <a:ext cx="2758440" cy="432206"/>
          </a:xfrm>
          <a:prstGeom prst="rect">
            <a:avLst/>
          </a:prstGeom>
        </p:spPr>
        <p:txBody>
          <a:bodyPr anchor="t" rtlCol="false" tIns="0" lIns="0" bIns="0" rIns="0">
            <a:spAutoFit/>
          </a:bodyPr>
          <a:lstStyle/>
          <a:p>
            <a:pPr algn="l">
              <a:lnSpc>
                <a:spcPts val="3166"/>
              </a:lnSpc>
            </a:pPr>
            <a:r>
              <a:rPr lang="en-US" b="true" sz="2800">
                <a:solidFill>
                  <a:srgbClr val="000000"/>
                </a:solidFill>
                <a:latin typeface="Times New Roman Bold"/>
                <a:ea typeface="Times New Roman Bold"/>
                <a:cs typeface="Times New Roman Bold"/>
                <a:sym typeface="Times New Roman Bold"/>
              </a:rPr>
              <a:t>Literature Survey</a:t>
            </a:r>
          </a:p>
        </p:txBody>
      </p:sp>
      <p:sp>
        <p:nvSpPr>
          <p:cNvPr name="TextBox 4" id="4"/>
          <p:cNvSpPr txBox="true"/>
          <p:nvPr/>
        </p:nvSpPr>
        <p:spPr>
          <a:xfrm rot="0">
            <a:off x="408787" y="3670373"/>
            <a:ext cx="167183" cy="203102"/>
          </a:xfrm>
          <a:prstGeom prst="rect">
            <a:avLst/>
          </a:prstGeom>
        </p:spPr>
        <p:txBody>
          <a:bodyPr anchor="t" rtlCol="false" tIns="0" lIns="0" bIns="0" rIns="0">
            <a:spAutoFit/>
          </a:bodyPr>
          <a:lstStyle/>
          <a:p>
            <a:pPr algn="l">
              <a:lnSpc>
                <a:spcPts val="1545"/>
              </a:lnSpc>
            </a:pPr>
            <a:r>
              <a:rPr lang="en-US" b="true" sz="1103" spc="2">
                <a:solidFill>
                  <a:srgbClr val="FFFFFF"/>
                </a:solidFill>
                <a:latin typeface="Times New Roman Bold"/>
                <a:ea typeface="Times New Roman Bold"/>
                <a:cs typeface="Times New Roman Bold"/>
                <a:sym typeface="Times New Roman Bold"/>
              </a:rPr>
              <a:t>[3]</a:t>
            </a:r>
          </a:p>
        </p:txBody>
      </p:sp>
      <p:sp>
        <p:nvSpPr>
          <p:cNvPr name="Freeform 5" id="5"/>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6"/>
            <a:stretch>
              <a:fillRect l="0" t="0" r="0" b="-1078"/>
            </a:stretch>
          </a:blipFill>
        </p:spPr>
      </p:sp>
      <p:sp>
        <p:nvSpPr>
          <p:cNvPr name="TextBox 7" id="7"/>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aphicFrame>
        <p:nvGraphicFramePr>
          <p:cNvPr name="Object 2" id="2"/>
          <p:cNvGraphicFramePr/>
          <p:nvPr/>
        </p:nvGraphicFramePr>
        <p:xfrm>
          <a:off x="271272" y="1589422"/>
          <a:ext cx="8704165" cy="441029"/>
        </p:xfrm>
        <a:graphic>
          <a:graphicData uri="http://schemas.openxmlformats.org/presentationml/2006/ole">
            <p:oleObj imgW="10439400" imgH="21717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3192780" y="1164317"/>
            <a:ext cx="2758440" cy="287376"/>
          </a:xfrm>
          <a:prstGeom prst="rect">
            <a:avLst/>
          </a:prstGeom>
        </p:spPr>
        <p:txBody>
          <a:bodyPr anchor="t" rtlCol="false" tIns="0" lIns="0" bIns="0" rIns="0">
            <a:spAutoFit/>
          </a:bodyPr>
          <a:lstStyle/>
          <a:p>
            <a:pPr algn="l">
              <a:lnSpc>
                <a:spcPts val="1607"/>
              </a:lnSpc>
            </a:pPr>
            <a:r>
              <a:rPr lang="en-US" b="true" sz="2800">
                <a:solidFill>
                  <a:srgbClr val="000000"/>
                </a:solidFill>
                <a:latin typeface="Times New Roman Bold"/>
                <a:ea typeface="Times New Roman Bold"/>
                <a:cs typeface="Times New Roman Bold"/>
                <a:sym typeface="Times New Roman Bold"/>
              </a:rPr>
              <a:t>Literature Survey</a:t>
            </a:r>
          </a:p>
        </p:txBody>
      </p:sp>
      <p:sp>
        <p:nvSpPr>
          <p:cNvPr name="TextBox 4" id="4"/>
          <p:cNvSpPr txBox="true"/>
          <p:nvPr/>
        </p:nvSpPr>
        <p:spPr>
          <a:xfrm rot="0">
            <a:off x="497868" y="1870158"/>
            <a:ext cx="46089" cy="241285"/>
          </a:xfrm>
          <a:prstGeom prst="rect">
            <a:avLst/>
          </a:prstGeom>
        </p:spPr>
        <p:txBody>
          <a:bodyPr anchor="t" rtlCol="false" tIns="0" lIns="0" bIns="0" rIns="0">
            <a:spAutoFit/>
          </a:bodyPr>
          <a:lstStyle/>
          <a:p>
            <a:pPr algn="l">
              <a:lnSpc>
                <a:spcPts val="1824"/>
              </a:lnSpc>
            </a:pPr>
            <a:r>
              <a:rPr lang="en-US" sz="1423">
                <a:solidFill>
                  <a:srgbClr val="000000"/>
                </a:solidFill>
                <a:latin typeface="Times New Roman"/>
                <a:ea typeface="Times New Roman"/>
                <a:cs typeface="Times New Roman"/>
                <a:sym typeface="Times New Roman"/>
              </a:rPr>
              <a:t> </a:t>
            </a:r>
          </a:p>
        </p:txBody>
      </p:sp>
      <p:sp>
        <p:nvSpPr>
          <p:cNvPr name="TextBox 5" id="5"/>
          <p:cNvSpPr txBox="true"/>
          <p:nvPr/>
        </p:nvSpPr>
        <p:spPr>
          <a:xfrm rot="0">
            <a:off x="3240946" y="1870158"/>
            <a:ext cx="46089" cy="241285"/>
          </a:xfrm>
          <a:prstGeom prst="rect">
            <a:avLst/>
          </a:prstGeom>
        </p:spPr>
        <p:txBody>
          <a:bodyPr anchor="t" rtlCol="false" tIns="0" lIns="0" bIns="0" rIns="0">
            <a:spAutoFit/>
          </a:bodyPr>
          <a:lstStyle/>
          <a:p>
            <a:pPr algn="l">
              <a:lnSpc>
                <a:spcPts val="1830"/>
              </a:lnSpc>
            </a:pPr>
            <a:r>
              <a:rPr lang="en-US" sz="1423">
                <a:solidFill>
                  <a:srgbClr val="000000"/>
                </a:solidFill>
                <a:latin typeface="Times New Roman"/>
                <a:ea typeface="Times New Roman"/>
                <a:cs typeface="Times New Roman"/>
                <a:sym typeface="Times New Roman"/>
              </a:rPr>
              <a:t> </a:t>
            </a:r>
          </a:p>
        </p:txBody>
      </p:sp>
      <p:sp>
        <p:nvSpPr>
          <p:cNvPr name="TextBox 6" id="6"/>
          <p:cNvSpPr txBox="true"/>
          <p:nvPr/>
        </p:nvSpPr>
        <p:spPr>
          <a:xfrm rot="0">
            <a:off x="5740626" y="1870158"/>
            <a:ext cx="46089" cy="241285"/>
          </a:xfrm>
          <a:prstGeom prst="rect">
            <a:avLst/>
          </a:prstGeom>
        </p:spPr>
        <p:txBody>
          <a:bodyPr anchor="t" rtlCol="false" tIns="0" lIns="0" bIns="0" rIns="0">
            <a:spAutoFit/>
          </a:bodyPr>
          <a:lstStyle/>
          <a:p>
            <a:pPr algn="l">
              <a:lnSpc>
                <a:spcPts val="1830"/>
              </a:lnSpc>
            </a:pPr>
            <a:r>
              <a:rPr lang="en-US" sz="1423">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8265289" y="1870158"/>
            <a:ext cx="46089" cy="241285"/>
          </a:xfrm>
          <a:prstGeom prst="rect">
            <a:avLst/>
          </a:prstGeom>
        </p:spPr>
        <p:txBody>
          <a:bodyPr anchor="t" rtlCol="false" tIns="0" lIns="0" bIns="0" rIns="0">
            <a:spAutoFit/>
          </a:bodyPr>
          <a:lstStyle/>
          <a:p>
            <a:pPr algn="l">
              <a:lnSpc>
                <a:spcPts val="1824"/>
              </a:lnSpc>
            </a:pPr>
            <a:r>
              <a:rPr lang="en-US" sz="1423">
                <a:solidFill>
                  <a:srgbClr val="000000"/>
                </a:solidFill>
                <a:latin typeface="Times New Roman"/>
                <a:ea typeface="Times New Roman"/>
                <a:cs typeface="Times New Roman"/>
                <a:sym typeface="Times New Roman"/>
              </a:rPr>
              <a:t> </a:t>
            </a:r>
          </a:p>
        </p:txBody>
      </p:sp>
      <p:sp>
        <p:nvSpPr>
          <p:cNvPr name="Freeform 8" id="8"/>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6"/>
            <a:stretch>
              <a:fillRect l="0" t="0" r="0" b="-1078"/>
            </a:stretch>
          </a:blipFill>
        </p:spPr>
      </p:sp>
      <p:sp>
        <p:nvSpPr>
          <p:cNvPr name="TextBox 10" id="10"/>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509010" y="901894"/>
            <a:ext cx="2247900" cy="566318"/>
          </a:xfrm>
          <a:prstGeom prst="rect">
            <a:avLst/>
          </a:prstGeom>
        </p:spPr>
        <p:txBody>
          <a:bodyPr anchor="t" rtlCol="false" tIns="0" lIns="0" bIns="0" rIns="0">
            <a:spAutoFit/>
          </a:bodyPr>
          <a:lstStyle/>
          <a:p>
            <a:pPr algn="l">
              <a:lnSpc>
                <a:spcPts val="4510"/>
              </a:lnSpc>
            </a:pPr>
            <a:r>
              <a:rPr lang="en-US" b="true" sz="2800">
                <a:solidFill>
                  <a:srgbClr val="000000"/>
                </a:solidFill>
                <a:latin typeface="Times New Roman Bold"/>
                <a:ea typeface="Times New Roman Bold"/>
                <a:cs typeface="Times New Roman Bold"/>
                <a:sym typeface="Times New Roman Bold"/>
              </a:rPr>
              <a:t>Gap Identified</a:t>
            </a:r>
          </a:p>
        </p:txBody>
      </p:sp>
      <p:sp>
        <p:nvSpPr>
          <p:cNvPr name="TextBox 3" id="3"/>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4" id="4"/>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5" id="5"/>
          <p:cNvSpPr txBox="true"/>
          <p:nvPr/>
        </p:nvSpPr>
        <p:spPr>
          <a:xfrm rot="0">
            <a:off x="133873" y="1242203"/>
            <a:ext cx="8876255" cy="4016692"/>
          </a:xfrm>
          <a:prstGeom prst="rect">
            <a:avLst/>
          </a:prstGeom>
        </p:spPr>
        <p:txBody>
          <a:bodyPr anchor="t" rtlCol="false" tIns="0" lIns="0" bIns="0" rIns="0">
            <a:spAutoFit/>
          </a:bodyPr>
          <a:lstStyle/>
          <a:p>
            <a:pPr algn="just">
              <a:lnSpc>
                <a:spcPts val="1777"/>
              </a:lnSpc>
            </a:pPr>
            <a:r>
              <a:rPr lang="en-US" sz="1500" b="true">
                <a:solidFill>
                  <a:srgbClr val="000000"/>
                </a:solidFill>
                <a:latin typeface="Times New Roman Bold"/>
                <a:ea typeface="Times New Roman Bold"/>
                <a:cs typeface="Times New Roman Bold"/>
                <a:sym typeface="Times New Roman Bold"/>
              </a:rPr>
              <a:t>Gap 1: Limited Multi-Class Coverage</a:t>
            </a:r>
          </a:p>
          <a:p>
            <a:pPr algn="just" marL="323850" indent="-161925" lvl="1">
              <a:lnSpc>
                <a:spcPts val="1777"/>
              </a:lnSpc>
              <a:buFont typeface="Arial"/>
              <a:buChar char="•"/>
            </a:pPr>
            <a:r>
              <a:rPr lang="en-US" sz="1500">
                <a:solidFill>
                  <a:srgbClr val="000000"/>
                </a:solidFill>
                <a:latin typeface="Times New Roman"/>
                <a:ea typeface="Times New Roman"/>
                <a:cs typeface="Times New Roman"/>
                <a:sym typeface="Times New Roman"/>
              </a:rPr>
              <a:t>Existing studies mainly focus on single-disease detection, especially oral cancer, ignoring other common dental pathologies.</a:t>
            </a:r>
          </a:p>
          <a:p>
            <a:pPr algn="just" marL="323850" indent="-161925" lvl="1">
              <a:lnSpc>
                <a:spcPts val="1777"/>
              </a:lnSpc>
              <a:buFont typeface="Arial"/>
              <a:buChar char="•"/>
            </a:pPr>
            <a:r>
              <a:rPr lang="en-US" b="true" sz="1500">
                <a:solidFill>
                  <a:srgbClr val="000000"/>
                </a:solidFill>
                <a:latin typeface="Times New Roman Bold"/>
                <a:ea typeface="Times New Roman Bold"/>
                <a:cs typeface="Times New Roman Bold"/>
                <a:sym typeface="Times New Roman Bold"/>
              </a:rPr>
              <a:t>Our Solution: </a:t>
            </a:r>
            <a:r>
              <a:rPr lang="en-US" sz="1500">
                <a:solidFill>
                  <a:srgbClr val="000000"/>
                </a:solidFill>
                <a:latin typeface="Times New Roman"/>
                <a:ea typeface="Times New Roman"/>
                <a:cs typeface="Times New Roman"/>
                <a:sym typeface="Times New Roman"/>
              </a:rPr>
              <a:t>Developed a multi-class classification framework to detect oral cancer, caries, gingivitis, hypodontia, tooth discoloration, and normal cases simultaneously.</a:t>
            </a:r>
          </a:p>
          <a:p>
            <a:pPr algn="just">
              <a:lnSpc>
                <a:spcPts val="1777"/>
              </a:lnSpc>
            </a:pPr>
            <a:r>
              <a:rPr lang="en-US" sz="1500" b="true">
                <a:solidFill>
                  <a:srgbClr val="000000"/>
                </a:solidFill>
                <a:latin typeface="Times New Roman Bold"/>
                <a:ea typeface="Times New Roman Bold"/>
                <a:cs typeface="Times New Roman Bold"/>
                <a:sym typeface="Times New Roman Bold"/>
              </a:rPr>
              <a:t>Gap 2: Dataset Size and Imbalance</a:t>
            </a:r>
          </a:p>
          <a:p>
            <a:pPr algn="just" marL="323850" indent="-161925" lvl="1">
              <a:lnSpc>
                <a:spcPts val="1777"/>
              </a:lnSpc>
              <a:buFont typeface="Arial"/>
              <a:buChar char="•"/>
            </a:pPr>
            <a:r>
              <a:rPr lang="en-US" sz="1500">
                <a:solidFill>
                  <a:srgbClr val="000000"/>
                </a:solidFill>
                <a:latin typeface="Times New Roman"/>
                <a:ea typeface="Times New Roman"/>
                <a:cs typeface="Times New Roman"/>
                <a:sym typeface="Times New Roman"/>
              </a:rPr>
              <a:t>Prior works rely on small or imbalanced datasets, affecting model reliability and generalization.</a:t>
            </a:r>
          </a:p>
          <a:p>
            <a:pPr algn="just" marL="323850" indent="-161925" lvl="1">
              <a:lnSpc>
                <a:spcPts val="1777"/>
              </a:lnSpc>
              <a:buFont typeface="Arial"/>
              <a:buChar char="•"/>
            </a:pPr>
            <a:r>
              <a:rPr lang="en-US" b="true" sz="1500">
                <a:solidFill>
                  <a:srgbClr val="000000"/>
                </a:solidFill>
                <a:latin typeface="Times New Roman Bold"/>
                <a:ea typeface="Times New Roman Bold"/>
                <a:cs typeface="Times New Roman Bold"/>
                <a:sym typeface="Times New Roman Bold"/>
              </a:rPr>
              <a:t>Our Solution: </a:t>
            </a:r>
            <a:r>
              <a:rPr lang="en-US" sz="1500">
                <a:solidFill>
                  <a:srgbClr val="000000"/>
                </a:solidFill>
                <a:latin typeface="Times New Roman"/>
                <a:ea typeface="Times New Roman"/>
                <a:cs typeface="Times New Roman"/>
                <a:sym typeface="Times New Roman"/>
              </a:rPr>
              <a:t>Combined multiple publicly available datasets and applied data augmentation to improve class balance and robustness.</a:t>
            </a:r>
          </a:p>
          <a:p>
            <a:pPr algn="just">
              <a:lnSpc>
                <a:spcPts val="1777"/>
              </a:lnSpc>
            </a:pPr>
            <a:r>
              <a:rPr lang="en-US" sz="1500" b="true">
                <a:solidFill>
                  <a:srgbClr val="000000"/>
                </a:solidFill>
                <a:latin typeface="Times New Roman Bold"/>
                <a:ea typeface="Times New Roman Bold"/>
                <a:cs typeface="Times New Roman Bold"/>
                <a:sym typeface="Times New Roman Bold"/>
              </a:rPr>
              <a:t>Gap 3: Lack of Explainability in AI Models</a:t>
            </a:r>
          </a:p>
          <a:p>
            <a:pPr algn="just" marL="323850" indent="-161925" lvl="1">
              <a:lnSpc>
                <a:spcPts val="1777"/>
              </a:lnSpc>
              <a:buFont typeface="Arial"/>
              <a:buChar char="•"/>
            </a:pPr>
            <a:r>
              <a:rPr lang="en-US" sz="1500">
                <a:solidFill>
                  <a:srgbClr val="000000"/>
                </a:solidFill>
                <a:latin typeface="Times New Roman"/>
                <a:ea typeface="Times New Roman"/>
                <a:cs typeface="Times New Roman"/>
                <a:sym typeface="Times New Roman"/>
              </a:rPr>
              <a:t>Many deep learning models function as black boxes, limiting clinical trust and adoption.</a:t>
            </a:r>
          </a:p>
          <a:p>
            <a:pPr algn="just" marL="323850" indent="-161925" lvl="1">
              <a:lnSpc>
                <a:spcPts val="1777"/>
              </a:lnSpc>
              <a:buFont typeface="Arial"/>
              <a:buChar char="•"/>
            </a:pPr>
            <a:r>
              <a:rPr lang="en-US" b="true" sz="1500">
                <a:solidFill>
                  <a:srgbClr val="000000"/>
                </a:solidFill>
                <a:latin typeface="Times New Roman Bold"/>
                <a:ea typeface="Times New Roman Bold"/>
                <a:cs typeface="Times New Roman Bold"/>
                <a:sym typeface="Times New Roman Bold"/>
              </a:rPr>
              <a:t>Our Solution:</a:t>
            </a:r>
            <a:r>
              <a:rPr lang="en-US" sz="1500">
                <a:solidFill>
                  <a:srgbClr val="000000"/>
                </a:solidFill>
                <a:latin typeface="Times New Roman"/>
                <a:ea typeface="Times New Roman"/>
                <a:cs typeface="Times New Roman"/>
                <a:sym typeface="Times New Roman"/>
              </a:rPr>
              <a:t> Integrated Grad-CAM–based explainable AI, highlighting lesion-specific regions to support clinical interpretation.</a:t>
            </a:r>
          </a:p>
          <a:p>
            <a:pPr algn="just">
              <a:lnSpc>
                <a:spcPts val="1777"/>
              </a:lnSpc>
            </a:pPr>
            <a:r>
              <a:rPr lang="en-US" sz="1500" b="true">
                <a:solidFill>
                  <a:srgbClr val="000000"/>
                </a:solidFill>
                <a:latin typeface="Times New Roman Bold"/>
                <a:ea typeface="Times New Roman Bold"/>
                <a:cs typeface="Times New Roman Bold"/>
                <a:sym typeface="Times New Roman Bold"/>
              </a:rPr>
              <a:t>Gap 4: Sensitivity to Real-World Image Variations</a:t>
            </a:r>
          </a:p>
          <a:p>
            <a:pPr algn="just" marL="323850" indent="-161925" lvl="1">
              <a:lnSpc>
                <a:spcPts val="1777"/>
              </a:lnSpc>
              <a:buFont typeface="Arial"/>
              <a:buChar char="•"/>
            </a:pPr>
            <a:r>
              <a:rPr lang="en-US" sz="1500">
                <a:solidFill>
                  <a:srgbClr val="000000"/>
                </a:solidFill>
                <a:latin typeface="Times New Roman"/>
                <a:ea typeface="Times New Roman"/>
                <a:cs typeface="Times New Roman"/>
                <a:sym typeface="Times New Roman"/>
              </a:rPr>
              <a:t>Existing methods struggle with variations in lighting, resolution, and image quality.</a:t>
            </a:r>
          </a:p>
          <a:p>
            <a:pPr algn="just" marL="323850" indent="-161925" lvl="1">
              <a:lnSpc>
                <a:spcPts val="1777"/>
              </a:lnSpc>
              <a:buFont typeface="Arial"/>
              <a:buChar char="•"/>
            </a:pPr>
            <a:r>
              <a:rPr lang="en-US" b="true" sz="1500">
                <a:solidFill>
                  <a:srgbClr val="000000"/>
                </a:solidFill>
                <a:latin typeface="Times New Roman Bold"/>
                <a:ea typeface="Times New Roman Bold"/>
                <a:cs typeface="Times New Roman Bold"/>
                <a:sym typeface="Times New Roman Bold"/>
              </a:rPr>
              <a:t>Our Solution: </a:t>
            </a:r>
            <a:r>
              <a:rPr lang="en-US" sz="1500">
                <a:solidFill>
                  <a:srgbClr val="000000"/>
                </a:solidFill>
                <a:latin typeface="Times New Roman"/>
                <a:ea typeface="Times New Roman"/>
                <a:cs typeface="Times New Roman"/>
                <a:sym typeface="Times New Roman"/>
              </a:rPr>
              <a:t>Applied systematic preprocessing and augmentation techniques to ensure stable performance under diverse imaging conditions.</a:t>
            </a:r>
          </a:p>
          <a:p>
            <a:pPr algn="just">
              <a:lnSpc>
                <a:spcPts val="1777"/>
              </a:lnSpc>
            </a:pPr>
          </a:p>
        </p:txBody>
      </p:sp>
      <p:sp>
        <p:nvSpPr>
          <p:cNvPr name="Freeform 6" id="6"/>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8" id="8"/>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4" id="4"/>
          <p:cNvSpPr/>
          <p:nvPr/>
        </p:nvSpPr>
        <p:spPr>
          <a:xfrm flipH="false" flipV="false" rot="0">
            <a:off x="1889647" y="1114356"/>
            <a:ext cx="5612357" cy="3704155"/>
          </a:xfrm>
          <a:custGeom>
            <a:avLst/>
            <a:gdLst/>
            <a:ahLst/>
            <a:cxnLst/>
            <a:rect r="r" b="b" t="t" l="l"/>
            <a:pathLst>
              <a:path h="3704155" w="5612357">
                <a:moveTo>
                  <a:pt x="0" y="0"/>
                </a:moveTo>
                <a:lnTo>
                  <a:pt x="5612356" y="0"/>
                </a:lnTo>
                <a:lnTo>
                  <a:pt x="5612356" y="3704156"/>
                </a:lnTo>
                <a:lnTo>
                  <a:pt x="0" y="3704156"/>
                </a:lnTo>
                <a:lnTo>
                  <a:pt x="0" y="0"/>
                </a:lnTo>
                <a:close/>
              </a:path>
            </a:pathLst>
          </a:custGeom>
          <a:blipFill>
            <a:blip r:embed="rId5"/>
            <a:stretch>
              <a:fillRect l="0" t="0" r="0" b="0"/>
            </a:stretch>
          </a:blipFill>
        </p:spPr>
      </p:sp>
      <p:sp>
        <p:nvSpPr>
          <p:cNvPr name="TextBox 5" id="5"/>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6" id="6"/>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3529063" y="4808987"/>
            <a:ext cx="2354580" cy="296799"/>
          </a:xfrm>
          <a:prstGeom prst="rect">
            <a:avLst/>
          </a:prstGeom>
        </p:spPr>
        <p:txBody>
          <a:bodyPr anchor="t" rtlCol="false" tIns="0" lIns="0" bIns="0" rIns="0">
            <a:spAutoFit/>
          </a:bodyPr>
          <a:lstStyle/>
          <a:p>
            <a:pPr algn="ctr">
              <a:lnSpc>
                <a:spcPts val="2133"/>
              </a:lnSpc>
              <a:spcBef>
                <a:spcPct val="0"/>
              </a:spcBef>
            </a:pPr>
            <a:r>
              <a:rPr lang="en-US" b="true" sz="1800">
                <a:solidFill>
                  <a:srgbClr val="000000"/>
                </a:solidFill>
                <a:latin typeface="Times New Roman Bold"/>
                <a:ea typeface="Times New Roman Bold"/>
                <a:cs typeface="Times New Roman Bold"/>
                <a:sym typeface="Times New Roman Bold"/>
              </a:rPr>
              <a:t>Fig. System Architecture</a:t>
            </a:r>
          </a:p>
        </p:txBody>
      </p:sp>
      <p:sp>
        <p:nvSpPr>
          <p:cNvPr name="TextBox 8" id="8"/>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3" id="3"/>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Freeform 4" id="4"/>
          <p:cNvSpPr/>
          <p:nvPr/>
        </p:nvSpPr>
        <p:spPr>
          <a:xfrm flipH="false" flipV="false" rot="0">
            <a:off x="2905632" y="1162981"/>
            <a:ext cx="3332736" cy="3415851"/>
          </a:xfrm>
          <a:custGeom>
            <a:avLst/>
            <a:gdLst/>
            <a:ahLst/>
            <a:cxnLst/>
            <a:rect r="r" b="b" t="t" l="l"/>
            <a:pathLst>
              <a:path h="3415851" w="3332736">
                <a:moveTo>
                  <a:pt x="0" y="0"/>
                </a:moveTo>
                <a:lnTo>
                  <a:pt x="3332736" y="0"/>
                </a:lnTo>
                <a:lnTo>
                  <a:pt x="3332736" y="3415851"/>
                </a:lnTo>
                <a:lnTo>
                  <a:pt x="0" y="3415851"/>
                </a:lnTo>
                <a:lnTo>
                  <a:pt x="0" y="0"/>
                </a:lnTo>
                <a:close/>
              </a:path>
            </a:pathLst>
          </a:custGeom>
          <a:blipFill>
            <a:blip r:embed="rId2"/>
            <a:stretch>
              <a:fillRect l="-5680" t="0" r="-595" b="-3690"/>
            </a:stretch>
          </a:blipFill>
        </p:spPr>
      </p:sp>
      <p:sp>
        <p:nvSpPr>
          <p:cNvPr name="TextBox 5" id="5"/>
          <p:cNvSpPr txBox="true"/>
          <p:nvPr/>
        </p:nvSpPr>
        <p:spPr>
          <a:xfrm rot="0">
            <a:off x="575310" y="4656220"/>
            <a:ext cx="7993380" cy="296799"/>
          </a:xfrm>
          <a:prstGeom prst="rect">
            <a:avLst/>
          </a:prstGeom>
        </p:spPr>
        <p:txBody>
          <a:bodyPr anchor="t" rtlCol="false" tIns="0" lIns="0" bIns="0" rIns="0">
            <a:spAutoFit/>
          </a:bodyPr>
          <a:lstStyle/>
          <a:p>
            <a:pPr algn="ctr">
              <a:lnSpc>
                <a:spcPts val="2133"/>
              </a:lnSpc>
              <a:spcBef>
                <a:spcPct val="0"/>
              </a:spcBef>
            </a:pPr>
            <a:r>
              <a:rPr lang="en-US" b="true" sz="1800">
                <a:solidFill>
                  <a:srgbClr val="000000"/>
                </a:solidFill>
                <a:latin typeface="Times New Roman Bold"/>
                <a:ea typeface="Times New Roman Bold"/>
                <a:cs typeface="Times New Roman Bold"/>
                <a:sym typeface="Times New Roman Bold"/>
              </a:rPr>
              <a:t> Fig. Image Preprocessing and Normalization Pipeline for Oral Pathology Detection</a:t>
            </a:r>
          </a:p>
        </p:txBody>
      </p:sp>
      <p:sp>
        <p:nvSpPr>
          <p:cNvPr name="Freeform 6" id="6"/>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5"/>
            <a:stretch>
              <a:fillRect l="0" t="0" r="0" b="-1078"/>
            </a:stretch>
          </a:blipFill>
        </p:spPr>
      </p:sp>
      <p:sp>
        <p:nvSpPr>
          <p:cNvPr name="TextBox 8" id="8"/>
          <p:cNvSpPr txBox="true"/>
          <p:nvPr/>
        </p:nvSpPr>
        <p:spPr>
          <a:xfrm rot="0">
            <a:off x="8479536" y="4810906"/>
            <a:ext cx="5334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3" id="3"/>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4" id="4"/>
          <p:cNvSpPr txBox="true"/>
          <p:nvPr/>
        </p:nvSpPr>
        <p:spPr>
          <a:xfrm rot="0">
            <a:off x="3764280" y="1047493"/>
            <a:ext cx="1615440" cy="451104"/>
          </a:xfrm>
          <a:prstGeom prst="rect">
            <a:avLst/>
          </a:prstGeom>
        </p:spPr>
        <p:txBody>
          <a:bodyPr anchor="t" rtlCol="false" tIns="0" lIns="0" bIns="0" rIns="0">
            <a:spAutoFit/>
          </a:bodyPr>
          <a:lstStyle/>
          <a:p>
            <a:pPr algn="ctr">
              <a:lnSpc>
                <a:spcPts val="3318"/>
              </a:lnSpc>
              <a:spcBef>
                <a:spcPct val="0"/>
              </a:spcBef>
            </a:pPr>
            <a:r>
              <a:rPr lang="en-US" b="true" sz="2800">
                <a:solidFill>
                  <a:srgbClr val="000000"/>
                </a:solidFill>
                <a:latin typeface="Times New Roman Bold"/>
                <a:ea typeface="Times New Roman Bold"/>
                <a:cs typeface="Times New Roman Bold"/>
                <a:sym typeface="Times New Roman Bold"/>
              </a:rPr>
              <a:t>Obj</a:t>
            </a:r>
            <a:r>
              <a:rPr lang="en-US" b="true" sz="2800">
                <a:solidFill>
                  <a:srgbClr val="000000"/>
                </a:solidFill>
                <a:latin typeface="Times New Roman Bold"/>
                <a:ea typeface="Times New Roman Bold"/>
                <a:cs typeface="Times New Roman Bold"/>
                <a:sym typeface="Times New Roman Bold"/>
              </a:rPr>
              <a:t>ectives</a:t>
            </a:r>
          </a:p>
        </p:txBody>
      </p:sp>
      <p:sp>
        <p:nvSpPr>
          <p:cNvPr name="TextBox 5" id="5"/>
          <p:cNvSpPr txBox="true"/>
          <p:nvPr/>
        </p:nvSpPr>
        <p:spPr>
          <a:xfrm rot="0">
            <a:off x="514350" y="1653275"/>
            <a:ext cx="8227505" cy="3156775"/>
          </a:xfrm>
          <a:prstGeom prst="rect">
            <a:avLst/>
          </a:prstGeom>
        </p:spPr>
        <p:txBody>
          <a:bodyPr anchor="t" rtlCol="false" tIns="0" lIns="0" bIns="0" rIns="0">
            <a:spAutoFit/>
          </a:bodyPr>
          <a:lstStyle/>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develop an AI-based system for early detection of oral cancer and dental pathologies</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classify multiple oral conditions using intraoral images</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apply EfficientNet-B0 for accurate and efficient feature extraction</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improve model robustness using image preprocessing and data augmentation</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address data imbalance through optimized training strategies</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integrate explainable AI (Grad-CAM) for better clinical interpretability</a:t>
            </a:r>
          </a:p>
          <a:p>
            <a:pPr algn="just" marL="453390" indent="-226695" lvl="1">
              <a:lnSpc>
                <a:spcPts val="2488"/>
              </a:lnSpc>
              <a:buFont typeface="Arial"/>
              <a:buChar char="•"/>
            </a:pPr>
            <a:r>
              <a:rPr lang="en-US" sz="2100">
                <a:solidFill>
                  <a:srgbClr val="000000"/>
                </a:solidFill>
                <a:latin typeface="Times New Roman"/>
                <a:ea typeface="Times New Roman"/>
                <a:cs typeface="Times New Roman"/>
                <a:sym typeface="Times New Roman"/>
              </a:rPr>
              <a:t>To evaluate the model using accuracy, precision, recall, and F1-score</a:t>
            </a:r>
          </a:p>
        </p:txBody>
      </p:sp>
      <p:sp>
        <p:nvSpPr>
          <p:cNvPr name="Freeform 6" id="6"/>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8" id="8"/>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3" id="3"/>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4" id="4"/>
          <p:cNvSpPr txBox="true"/>
          <p:nvPr/>
        </p:nvSpPr>
        <p:spPr>
          <a:xfrm rot="0">
            <a:off x="2922270" y="1047493"/>
            <a:ext cx="3299460" cy="451104"/>
          </a:xfrm>
          <a:prstGeom prst="rect">
            <a:avLst/>
          </a:prstGeom>
        </p:spPr>
        <p:txBody>
          <a:bodyPr anchor="t" rtlCol="false" tIns="0" lIns="0" bIns="0" rIns="0">
            <a:spAutoFit/>
          </a:bodyPr>
          <a:lstStyle/>
          <a:p>
            <a:pPr algn="ctr">
              <a:lnSpc>
                <a:spcPts val="3318"/>
              </a:lnSpc>
              <a:spcBef>
                <a:spcPct val="0"/>
              </a:spcBef>
            </a:pPr>
            <a:r>
              <a:rPr lang="en-US" b="true" sz="2800">
                <a:solidFill>
                  <a:srgbClr val="000000"/>
                </a:solidFill>
                <a:latin typeface="Times New Roman Bold"/>
                <a:ea typeface="Times New Roman Bold"/>
                <a:cs typeface="Times New Roman Bold"/>
                <a:sym typeface="Times New Roman Bold"/>
              </a:rPr>
              <a:t>Exp</a:t>
            </a:r>
            <a:r>
              <a:rPr lang="en-US" b="true" sz="2800">
                <a:solidFill>
                  <a:srgbClr val="000000"/>
                </a:solidFill>
                <a:latin typeface="Times New Roman Bold"/>
                <a:ea typeface="Times New Roman Bold"/>
                <a:cs typeface="Times New Roman Bold"/>
                <a:sym typeface="Times New Roman Bold"/>
              </a:rPr>
              <a:t>erimental Results</a:t>
            </a:r>
          </a:p>
        </p:txBody>
      </p:sp>
      <p:sp>
        <p:nvSpPr>
          <p:cNvPr name="TextBox 5" id="5"/>
          <p:cNvSpPr txBox="true"/>
          <p:nvPr/>
        </p:nvSpPr>
        <p:spPr>
          <a:xfrm rot="0">
            <a:off x="117890" y="1489262"/>
            <a:ext cx="8890982" cy="3489769"/>
          </a:xfrm>
          <a:prstGeom prst="rect">
            <a:avLst/>
          </a:prstGeom>
        </p:spPr>
        <p:txBody>
          <a:bodyPr anchor="t" rtlCol="false" tIns="0" lIns="0" bIns="0" rIns="0">
            <a:spAutoFit/>
          </a:bodyPr>
          <a:lstStyle/>
          <a:p>
            <a:pPr algn="l" marL="410209" indent="-205105" lvl="1">
              <a:lnSpc>
                <a:spcPts val="2251"/>
              </a:lnSpc>
              <a:buFont typeface="Arial"/>
              <a:buChar char="•"/>
            </a:pPr>
            <a:r>
              <a:rPr lang="en-US" b="true" sz="1899">
                <a:solidFill>
                  <a:srgbClr val="000000"/>
                </a:solidFill>
                <a:latin typeface="Times New Roman Bold"/>
                <a:ea typeface="Times New Roman Bold"/>
                <a:cs typeface="Times New Roman Bold"/>
                <a:sym typeface="Times New Roman Bold"/>
              </a:rPr>
              <a:t>Experimental ResultsObservation: </a:t>
            </a:r>
            <a:r>
              <a:rPr lang="en-US" sz="1899">
                <a:solidFill>
                  <a:srgbClr val="000000"/>
                </a:solidFill>
                <a:latin typeface="Times New Roman"/>
                <a:ea typeface="Times New Roman"/>
                <a:cs typeface="Times New Roman"/>
                <a:sym typeface="Times New Roman"/>
              </a:rPr>
              <a:t>The EfficientNet-B0 model demonstrated stable training behavior with consistent improvement in validation accuracy across epochs.</a:t>
            </a:r>
          </a:p>
          <a:p>
            <a:pPr algn="l" marL="410209" indent="-205105" lvl="1">
              <a:lnSpc>
                <a:spcPts val="2251"/>
              </a:lnSpc>
              <a:buFont typeface="Arial"/>
              <a:buChar char="•"/>
            </a:pPr>
            <a:r>
              <a:rPr lang="en-US" b="true" sz="1899">
                <a:solidFill>
                  <a:srgbClr val="000000"/>
                </a:solidFill>
                <a:latin typeface="Times New Roman Bold"/>
                <a:ea typeface="Times New Roman Bold"/>
                <a:cs typeface="Times New Roman Bold"/>
                <a:sym typeface="Times New Roman Bold"/>
              </a:rPr>
              <a:t>Performance Outcome: </a:t>
            </a:r>
            <a:r>
              <a:rPr lang="en-US" sz="1899">
                <a:solidFill>
                  <a:srgbClr val="000000"/>
                </a:solidFill>
                <a:latin typeface="Times New Roman"/>
                <a:ea typeface="Times New Roman"/>
                <a:cs typeface="Times New Roman"/>
                <a:sym typeface="Times New Roman"/>
              </a:rPr>
              <a:t>The proposed model achieved 95% classification accuracy, with macro precision of 0.93, macro recall of 0.92, and macro F1-score of 0.92 across six oral disease classes.</a:t>
            </a:r>
          </a:p>
          <a:p>
            <a:pPr algn="l" marL="410209" indent="-205105" lvl="1">
              <a:lnSpc>
                <a:spcPts val="2251"/>
              </a:lnSpc>
              <a:buFont typeface="Arial"/>
              <a:buChar char="•"/>
            </a:pPr>
            <a:r>
              <a:rPr lang="en-US" b="true" sz="1899">
                <a:solidFill>
                  <a:srgbClr val="000000"/>
                </a:solidFill>
                <a:latin typeface="Times New Roman Bold"/>
                <a:ea typeface="Times New Roman Bold"/>
                <a:cs typeface="Times New Roman Bold"/>
                <a:sym typeface="Times New Roman Bold"/>
              </a:rPr>
              <a:t>Class-wise Behavior: </a:t>
            </a:r>
            <a:r>
              <a:rPr lang="en-US" sz="1899">
                <a:solidFill>
                  <a:srgbClr val="000000"/>
                </a:solidFill>
                <a:latin typeface="Times New Roman"/>
                <a:ea typeface="Times New Roman"/>
                <a:cs typeface="Times New Roman"/>
                <a:sym typeface="Times New Roman"/>
              </a:rPr>
              <a:t>High accuracy was observed in detecting oral cancer and common dental pathologies, with minor misclassifications between visually similar conditions.</a:t>
            </a:r>
          </a:p>
          <a:p>
            <a:pPr algn="l" marL="410209" indent="-205105" lvl="1">
              <a:lnSpc>
                <a:spcPts val="2251"/>
              </a:lnSpc>
              <a:buFont typeface="Arial"/>
              <a:buChar char="•"/>
            </a:pPr>
            <a:r>
              <a:rPr lang="en-US" b="true" sz="1899">
                <a:solidFill>
                  <a:srgbClr val="000000"/>
                </a:solidFill>
                <a:latin typeface="Times New Roman Bold"/>
                <a:ea typeface="Times New Roman Bold"/>
                <a:cs typeface="Times New Roman Bold"/>
                <a:sym typeface="Times New Roman Bold"/>
              </a:rPr>
              <a:t>Explainability Outcome: </a:t>
            </a:r>
            <a:r>
              <a:rPr lang="en-US" sz="1899">
                <a:solidFill>
                  <a:srgbClr val="000000"/>
                </a:solidFill>
                <a:latin typeface="Times New Roman"/>
                <a:ea typeface="Times New Roman"/>
                <a:cs typeface="Times New Roman"/>
                <a:sym typeface="Times New Roman"/>
              </a:rPr>
              <a:t>Grad-CAM visualizations successfully highlighted lesion-specific regions, confirming that the model focused on clinically relevant features.</a:t>
            </a:r>
          </a:p>
          <a:p>
            <a:pPr algn="l" marL="410209" indent="-205105" lvl="1">
              <a:lnSpc>
                <a:spcPts val="2251"/>
              </a:lnSpc>
              <a:buFont typeface="Arial"/>
              <a:buChar char="•"/>
            </a:pPr>
            <a:r>
              <a:rPr lang="en-US" b="true" sz="1899">
                <a:solidFill>
                  <a:srgbClr val="000000"/>
                </a:solidFill>
                <a:latin typeface="Times New Roman Bold"/>
                <a:ea typeface="Times New Roman Bold"/>
                <a:cs typeface="Times New Roman Bold"/>
                <a:sym typeface="Times New Roman Bold"/>
              </a:rPr>
              <a:t>Final Result: </a:t>
            </a:r>
            <a:r>
              <a:rPr lang="en-US" sz="1899">
                <a:solidFill>
                  <a:srgbClr val="000000"/>
                </a:solidFill>
                <a:latin typeface="Times New Roman"/>
                <a:ea typeface="Times New Roman"/>
                <a:cs typeface="Times New Roman"/>
                <a:sym typeface="Times New Roman"/>
              </a:rPr>
              <a:t>The system proved to be robust, accurate, and interpretable, supporting early detection and reliable clinical decision assistance.</a:t>
            </a:r>
          </a:p>
        </p:txBody>
      </p:sp>
      <p:sp>
        <p:nvSpPr>
          <p:cNvPr name="Freeform 6" id="6"/>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8" id="8"/>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3" id="3"/>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Freeform 4" id="4"/>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6" id="6"/>
          <p:cNvSpPr/>
          <p:nvPr/>
        </p:nvSpPr>
        <p:spPr>
          <a:xfrm flipH="false" flipV="false" rot="0">
            <a:off x="792833" y="1168968"/>
            <a:ext cx="2721032" cy="2379750"/>
          </a:xfrm>
          <a:custGeom>
            <a:avLst/>
            <a:gdLst/>
            <a:ahLst/>
            <a:cxnLst/>
            <a:rect r="r" b="b" t="t" l="l"/>
            <a:pathLst>
              <a:path h="2379750" w="2721032">
                <a:moveTo>
                  <a:pt x="0" y="0"/>
                </a:moveTo>
                <a:lnTo>
                  <a:pt x="2721032" y="0"/>
                </a:lnTo>
                <a:lnTo>
                  <a:pt x="2721032" y="2379750"/>
                </a:lnTo>
                <a:lnTo>
                  <a:pt x="0" y="2379750"/>
                </a:lnTo>
                <a:lnTo>
                  <a:pt x="0" y="0"/>
                </a:lnTo>
                <a:close/>
              </a:path>
            </a:pathLst>
          </a:custGeom>
          <a:blipFill>
            <a:blip r:embed="rId5"/>
            <a:stretch>
              <a:fillRect l="0" t="0" r="0" b="0"/>
            </a:stretch>
          </a:blipFill>
        </p:spPr>
      </p:sp>
      <p:sp>
        <p:nvSpPr>
          <p:cNvPr name="Freeform 7" id="7"/>
          <p:cNvSpPr/>
          <p:nvPr/>
        </p:nvSpPr>
        <p:spPr>
          <a:xfrm flipH="false" flipV="false" rot="0">
            <a:off x="5511082" y="1168968"/>
            <a:ext cx="2848096" cy="2453596"/>
          </a:xfrm>
          <a:custGeom>
            <a:avLst/>
            <a:gdLst/>
            <a:ahLst/>
            <a:cxnLst/>
            <a:rect r="r" b="b" t="t" l="l"/>
            <a:pathLst>
              <a:path h="2453596" w="2848096">
                <a:moveTo>
                  <a:pt x="0" y="0"/>
                </a:moveTo>
                <a:lnTo>
                  <a:pt x="2848096" y="0"/>
                </a:lnTo>
                <a:lnTo>
                  <a:pt x="2848096" y="2453596"/>
                </a:lnTo>
                <a:lnTo>
                  <a:pt x="0" y="2453596"/>
                </a:lnTo>
                <a:lnTo>
                  <a:pt x="0" y="0"/>
                </a:lnTo>
                <a:close/>
              </a:path>
            </a:pathLst>
          </a:custGeom>
          <a:blipFill>
            <a:blip r:embed="rId6"/>
            <a:stretch>
              <a:fillRect l="0" t="0" r="0" b="0"/>
            </a:stretch>
          </a:blipFill>
        </p:spPr>
      </p:sp>
      <p:sp>
        <p:nvSpPr>
          <p:cNvPr name="TextBox 8" id="8"/>
          <p:cNvSpPr txBox="true"/>
          <p:nvPr/>
        </p:nvSpPr>
        <p:spPr>
          <a:xfrm rot="0">
            <a:off x="85725" y="3685442"/>
            <a:ext cx="4271667" cy="1390879"/>
          </a:xfrm>
          <a:prstGeom prst="rect">
            <a:avLst/>
          </a:prstGeom>
        </p:spPr>
        <p:txBody>
          <a:bodyPr anchor="t" rtlCol="false" tIns="0" lIns="0" bIns="0" rIns="0">
            <a:spAutoFit/>
          </a:bodyPr>
          <a:lstStyle/>
          <a:p>
            <a:pPr algn="ctr">
              <a:lnSpc>
                <a:spcPts val="2158"/>
              </a:lnSpc>
              <a:spcBef>
                <a:spcPct val="0"/>
              </a:spcBef>
            </a:pPr>
            <a:r>
              <a:rPr lang="en-US" b="true" sz="1800">
                <a:solidFill>
                  <a:srgbClr val="000000"/>
                </a:solidFill>
                <a:latin typeface="Times New Roman Bold"/>
                <a:ea typeface="Times New Roman Bold"/>
                <a:cs typeface="Times New Roman Bold"/>
                <a:sym typeface="Times New Roman Bold"/>
              </a:rPr>
              <a:t>Figure 1(a): Image before preprocessing</a:t>
            </a:r>
          </a:p>
          <a:p>
            <a:pPr algn="ctr">
              <a:lnSpc>
                <a:spcPts val="2158"/>
              </a:lnSpc>
              <a:spcBef>
                <a:spcPct val="0"/>
              </a:spcBef>
            </a:pPr>
            <a:r>
              <a:rPr lang="en-US" b="true" sz="1800">
                <a:solidFill>
                  <a:srgbClr val="000000"/>
                </a:solidFill>
                <a:latin typeface="Times New Roman Bold"/>
                <a:ea typeface="Times New Roman Bold"/>
                <a:cs typeface="Times New Roman Bold"/>
                <a:sym typeface="Times New Roman Bold"/>
              </a:rPr>
              <a:t>This figure shows the original intraoral image captured under varying lighting and noise conditions, which may affect accurate feature extraction.</a:t>
            </a:r>
          </a:p>
        </p:txBody>
      </p:sp>
      <p:sp>
        <p:nvSpPr>
          <p:cNvPr name="TextBox 9" id="9"/>
          <p:cNvSpPr txBox="true"/>
          <p:nvPr/>
        </p:nvSpPr>
        <p:spPr>
          <a:xfrm rot="0">
            <a:off x="4783410" y="3708289"/>
            <a:ext cx="4322490" cy="1390879"/>
          </a:xfrm>
          <a:prstGeom prst="rect">
            <a:avLst/>
          </a:prstGeom>
        </p:spPr>
        <p:txBody>
          <a:bodyPr anchor="t" rtlCol="false" tIns="0" lIns="0" bIns="0" rIns="0">
            <a:spAutoFit/>
          </a:bodyPr>
          <a:lstStyle/>
          <a:p>
            <a:pPr algn="ctr">
              <a:lnSpc>
                <a:spcPts val="2158"/>
              </a:lnSpc>
              <a:spcBef>
                <a:spcPct val="0"/>
              </a:spcBef>
            </a:pPr>
            <a:r>
              <a:rPr lang="en-US" b="true" sz="1800">
                <a:solidFill>
                  <a:srgbClr val="000000"/>
                </a:solidFill>
                <a:latin typeface="Times New Roman Bold"/>
                <a:ea typeface="Times New Roman Bold"/>
                <a:cs typeface="Times New Roman Bold"/>
                <a:sym typeface="Times New Roman Bold"/>
              </a:rPr>
              <a:t>Figure 1(b): Image after preprocessing</a:t>
            </a:r>
          </a:p>
          <a:p>
            <a:pPr algn="ctr">
              <a:lnSpc>
                <a:spcPts val="2158"/>
              </a:lnSpc>
              <a:spcBef>
                <a:spcPct val="0"/>
              </a:spcBef>
            </a:pPr>
            <a:r>
              <a:rPr lang="en-US" b="true" sz="1800">
                <a:solidFill>
                  <a:srgbClr val="000000"/>
                </a:solidFill>
                <a:latin typeface="Times New Roman Bold"/>
                <a:ea typeface="Times New Roman Bold"/>
                <a:cs typeface="Times New Roman Bold"/>
                <a:sym typeface="Times New Roman Bold"/>
              </a:rPr>
              <a:t>This figure illustrates the preprocessed image after resizing, noise reduction, and normalization, resulting in improved visual clarity for model input.</a:t>
            </a:r>
          </a:p>
        </p:txBody>
      </p:sp>
      <p:sp>
        <p:nvSpPr>
          <p:cNvPr name="TextBox 10" id="10"/>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4" id="4"/>
          <p:cNvSpPr/>
          <p:nvPr/>
        </p:nvSpPr>
        <p:spPr>
          <a:xfrm flipH="false" flipV="false" rot="0">
            <a:off x="3151161" y="2040868"/>
            <a:ext cx="2841679" cy="2902612"/>
          </a:xfrm>
          <a:custGeom>
            <a:avLst/>
            <a:gdLst/>
            <a:ahLst/>
            <a:cxnLst/>
            <a:rect r="r" b="b" t="t" l="l"/>
            <a:pathLst>
              <a:path h="2902612" w="2841679">
                <a:moveTo>
                  <a:pt x="0" y="0"/>
                </a:moveTo>
                <a:lnTo>
                  <a:pt x="2841678" y="0"/>
                </a:lnTo>
                <a:lnTo>
                  <a:pt x="2841678" y="2902612"/>
                </a:lnTo>
                <a:lnTo>
                  <a:pt x="0" y="2902612"/>
                </a:lnTo>
                <a:lnTo>
                  <a:pt x="0" y="0"/>
                </a:lnTo>
                <a:close/>
              </a:path>
            </a:pathLst>
          </a:custGeom>
          <a:blipFill>
            <a:blip r:embed="rId5"/>
            <a:stretch>
              <a:fillRect l="0" t="0" r="0" b="0"/>
            </a:stretch>
          </a:blipFill>
        </p:spPr>
      </p:sp>
      <p:sp>
        <p:nvSpPr>
          <p:cNvPr name="TextBox 5" id="5"/>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6" id="6"/>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0" y="1141928"/>
            <a:ext cx="9144000" cy="865608"/>
          </a:xfrm>
          <a:prstGeom prst="rect">
            <a:avLst/>
          </a:prstGeom>
        </p:spPr>
        <p:txBody>
          <a:bodyPr anchor="t" rtlCol="false" tIns="0" lIns="0" bIns="0" rIns="0">
            <a:spAutoFit/>
          </a:bodyPr>
          <a:lstStyle/>
          <a:p>
            <a:pPr algn="ctr">
              <a:lnSpc>
                <a:spcPts val="2232"/>
              </a:lnSpc>
              <a:spcBef>
                <a:spcPct val="0"/>
              </a:spcBef>
            </a:pPr>
            <a:r>
              <a:rPr lang="en-US" b="true" sz="1862">
                <a:solidFill>
                  <a:srgbClr val="000000"/>
                </a:solidFill>
                <a:latin typeface="Times New Roman Bold"/>
                <a:ea typeface="Times New Roman Bold"/>
                <a:cs typeface="Times New Roman Bold"/>
                <a:sym typeface="Times New Roman Bold"/>
              </a:rPr>
              <a:t>Figure 2: Confusion Matrix</a:t>
            </a:r>
          </a:p>
          <a:p>
            <a:pPr algn="ctr">
              <a:lnSpc>
                <a:spcPts val="2232"/>
              </a:lnSpc>
              <a:spcBef>
                <a:spcPct val="0"/>
              </a:spcBef>
            </a:pPr>
            <a:r>
              <a:rPr lang="en-US" b="true" sz="1862">
                <a:solidFill>
                  <a:srgbClr val="000000"/>
                </a:solidFill>
                <a:latin typeface="Times New Roman Bold"/>
                <a:ea typeface="Times New Roman Bold"/>
                <a:cs typeface="Times New Roman Bold"/>
                <a:sym typeface="Times New Roman Bold"/>
              </a:rPr>
              <a:t>The confusion matrix visualizes class-wise prediction performance, highlighting correct classifications and minor misclassifications among similar oral conditions.</a:t>
            </a:r>
          </a:p>
        </p:txBody>
      </p:sp>
      <p:sp>
        <p:nvSpPr>
          <p:cNvPr name="TextBox 8" id="8"/>
          <p:cNvSpPr txBox="true"/>
          <p:nvPr/>
        </p:nvSpPr>
        <p:spPr>
          <a:xfrm rot="0">
            <a:off x="8479536" y="4810906"/>
            <a:ext cx="106680" cy="3199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13</a:t>
            </a:r>
          </a:p>
          <a:p>
            <a:pPr algn="l">
              <a:lnSpc>
                <a:spcPts val="1263"/>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4" id="4"/>
          <p:cNvSpPr/>
          <p:nvPr/>
        </p:nvSpPr>
        <p:spPr>
          <a:xfrm flipH="false" flipV="false" rot="0">
            <a:off x="1908629" y="2053123"/>
            <a:ext cx="5231426" cy="3016958"/>
          </a:xfrm>
          <a:custGeom>
            <a:avLst/>
            <a:gdLst/>
            <a:ahLst/>
            <a:cxnLst/>
            <a:rect r="r" b="b" t="t" l="l"/>
            <a:pathLst>
              <a:path h="3016958" w="5231426">
                <a:moveTo>
                  <a:pt x="0" y="0"/>
                </a:moveTo>
                <a:lnTo>
                  <a:pt x="5231426" y="0"/>
                </a:lnTo>
                <a:lnTo>
                  <a:pt x="5231426" y="3016958"/>
                </a:lnTo>
                <a:lnTo>
                  <a:pt x="0" y="3016958"/>
                </a:lnTo>
                <a:lnTo>
                  <a:pt x="0" y="0"/>
                </a:lnTo>
                <a:close/>
              </a:path>
            </a:pathLst>
          </a:custGeom>
          <a:blipFill>
            <a:blip r:embed="rId5"/>
            <a:stretch>
              <a:fillRect l="0" t="0" r="0" b="0"/>
            </a:stretch>
          </a:blipFill>
        </p:spPr>
      </p:sp>
      <p:sp>
        <p:nvSpPr>
          <p:cNvPr name="TextBox 5" id="5"/>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6" id="6"/>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0" y="1141928"/>
            <a:ext cx="9144000" cy="1147715"/>
          </a:xfrm>
          <a:prstGeom prst="rect">
            <a:avLst/>
          </a:prstGeom>
        </p:spPr>
        <p:txBody>
          <a:bodyPr anchor="t" rtlCol="false" tIns="0" lIns="0" bIns="0" rIns="0">
            <a:spAutoFit/>
          </a:bodyPr>
          <a:lstStyle/>
          <a:p>
            <a:pPr algn="ctr">
              <a:lnSpc>
                <a:spcPts val="2232"/>
              </a:lnSpc>
              <a:spcBef>
                <a:spcPct val="0"/>
              </a:spcBef>
            </a:pPr>
            <a:r>
              <a:rPr lang="en-US" b="true" sz="1862">
                <a:solidFill>
                  <a:srgbClr val="000000"/>
                </a:solidFill>
                <a:latin typeface="Times New Roman Bold"/>
                <a:ea typeface="Times New Roman Bold"/>
                <a:cs typeface="Times New Roman Bold"/>
                <a:sym typeface="Times New Roman Bold"/>
              </a:rPr>
              <a:t>Figure 3: Training and Validation Accuracy/Loss Curves</a:t>
            </a:r>
          </a:p>
          <a:p>
            <a:pPr algn="ctr">
              <a:lnSpc>
                <a:spcPts val="2232"/>
              </a:lnSpc>
              <a:spcBef>
                <a:spcPct val="0"/>
              </a:spcBef>
            </a:pPr>
            <a:r>
              <a:rPr lang="en-US" b="true" sz="1862">
                <a:solidFill>
                  <a:srgbClr val="000000"/>
                </a:solidFill>
                <a:latin typeface="Times New Roman Bold"/>
                <a:ea typeface="Times New Roman Bold"/>
                <a:cs typeface="Times New Roman Bold"/>
                <a:sym typeface="Times New Roman Bold"/>
              </a:rPr>
              <a:t>These curves demonstrate stable learning behavior of the model, showing convergence with minimal overfitting during training.</a:t>
            </a:r>
          </a:p>
          <a:p>
            <a:pPr algn="ctr">
              <a:lnSpc>
                <a:spcPts val="2232"/>
              </a:lnSpc>
              <a:spcBef>
                <a:spcPct val="0"/>
              </a:spcBef>
            </a:pPr>
          </a:p>
        </p:txBody>
      </p:sp>
      <p:sp>
        <p:nvSpPr>
          <p:cNvPr name="TextBox 8" id="8"/>
          <p:cNvSpPr txBox="true"/>
          <p:nvPr/>
        </p:nvSpPr>
        <p:spPr>
          <a:xfrm rot="0">
            <a:off x="8479536" y="4810906"/>
            <a:ext cx="106680" cy="3199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14</a:t>
            </a:r>
          </a:p>
          <a:p>
            <a:pPr algn="l">
              <a:lnSpc>
                <a:spcPts val="1263"/>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4" id="4"/>
          <p:cNvSpPr/>
          <p:nvPr/>
        </p:nvSpPr>
        <p:spPr>
          <a:xfrm flipH="false" flipV="false" rot="0">
            <a:off x="708553" y="2216391"/>
            <a:ext cx="7889322" cy="2650319"/>
          </a:xfrm>
          <a:custGeom>
            <a:avLst/>
            <a:gdLst/>
            <a:ahLst/>
            <a:cxnLst/>
            <a:rect r="r" b="b" t="t" l="l"/>
            <a:pathLst>
              <a:path h="2650319" w="7889322">
                <a:moveTo>
                  <a:pt x="0" y="0"/>
                </a:moveTo>
                <a:lnTo>
                  <a:pt x="7889322" y="0"/>
                </a:lnTo>
                <a:lnTo>
                  <a:pt x="7889322" y="2650319"/>
                </a:lnTo>
                <a:lnTo>
                  <a:pt x="0" y="2650319"/>
                </a:lnTo>
                <a:lnTo>
                  <a:pt x="0" y="0"/>
                </a:lnTo>
                <a:close/>
              </a:path>
            </a:pathLst>
          </a:custGeom>
          <a:blipFill>
            <a:blip r:embed="rId5"/>
            <a:stretch>
              <a:fillRect l="0" t="0" r="0" b="0"/>
            </a:stretch>
          </a:blipFill>
        </p:spPr>
      </p:sp>
      <p:sp>
        <p:nvSpPr>
          <p:cNvPr name="TextBox 5" id="5"/>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6" id="6"/>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109697" y="1132403"/>
            <a:ext cx="8948774" cy="792546"/>
          </a:xfrm>
          <a:prstGeom prst="rect">
            <a:avLst/>
          </a:prstGeom>
        </p:spPr>
        <p:txBody>
          <a:bodyPr anchor="t" rtlCol="false" tIns="0" lIns="0" bIns="0" rIns="0">
            <a:spAutoFit/>
          </a:bodyPr>
          <a:lstStyle/>
          <a:p>
            <a:pPr algn="ctr">
              <a:lnSpc>
                <a:spcPts val="2014"/>
              </a:lnSpc>
              <a:spcBef>
                <a:spcPct val="0"/>
              </a:spcBef>
            </a:pPr>
            <a:r>
              <a:rPr lang="en-US" b="true" sz="1680">
                <a:solidFill>
                  <a:srgbClr val="000000"/>
                </a:solidFill>
                <a:latin typeface="Times New Roman Bold"/>
                <a:ea typeface="Times New Roman Bold"/>
                <a:cs typeface="Times New Roman Bold"/>
                <a:sym typeface="Times New Roman Bold"/>
              </a:rPr>
              <a:t>F</a:t>
            </a:r>
            <a:r>
              <a:rPr lang="en-US" b="true" sz="1680">
                <a:solidFill>
                  <a:srgbClr val="000000"/>
                </a:solidFill>
                <a:latin typeface="Times New Roman Bold"/>
                <a:ea typeface="Times New Roman Bold"/>
                <a:cs typeface="Times New Roman Bold"/>
                <a:sym typeface="Times New Roman Bold"/>
              </a:rPr>
              <a:t>igure 4: Training and Validation Accuracy/Loss Curves</a:t>
            </a:r>
          </a:p>
          <a:p>
            <a:pPr algn="ctr">
              <a:lnSpc>
                <a:spcPts val="2014"/>
              </a:lnSpc>
              <a:spcBef>
                <a:spcPct val="0"/>
              </a:spcBef>
            </a:pPr>
            <a:r>
              <a:rPr lang="en-US" b="true" sz="1680">
                <a:solidFill>
                  <a:srgbClr val="000000"/>
                </a:solidFill>
                <a:latin typeface="Times New Roman Bold"/>
                <a:ea typeface="Times New Roman Bold"/>
                <a:cs typeface="Times New Roman Bold"/>
                <a:sym typeface="Times New Roman Bold"/>
              </a:rPr>
              <a:t> This figure shows consistent improvement in accuracy and reduction in loss for both training and validation sets, indicating stable learning and minimal overfitting of the model.</a:t>
            </a:r>
          </a:p>
        </p:txBody>
      </p:sp>
      <p:sp>
        <p:nvSpPr>
          <p:cNvPr name="TextBox 8" id="8"/>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Freeform 4" id="4"/>
          <p:cNvSpPr/>
          <p:nvPr/>
        </p:nvSpPr>
        <p:spPr>
          <a:xfrm flipH="false" flipV="false" rot="0">
            <a:off x="1086806" y="2932339"/>
            <a:ext cx="6994556" cy="1218832"/>
          </a:xfrm>
          <a:custGeom>
            <a:avLst/>
            <a:gdLst/>
            <a:ahLst/>
            <a:cxnLst/>
            <a:rect r="r" b="b" t="t" l="l"/>
            <a:pathLst>
              <a:path h="1218832" w="6994556">
                <a:moveTo>
                  <a:pt x="0" y="0"/>
                </a:moveTo>
                <a:lnTo>
                  <a:pt x="6994556" y="0"/>
                </a:lnTo>
                <a:lnTo>
                  <a:pt x="6994556" y="1218831"/>
                </a:lnTo>
                <a:lnTo>
                  <a:pt x="0" y="1218831"/>
                </a:lnTo>
                <a:lnTo>
                  <a:pt x="0" y="0"/>
                </a:lnTo>
                <a:close/>
              </a:path>
            </a:pathLst>
          </a:custGeom>
          <a:blipFill>
            <a:blip r:embed="rId5"/>
            <a:stretch>
              <a:fillRect l="0" t="0" r="0" b="0"/>
            </a:stretch>
          </a:blipFill>
        </p:spPr>
      </p:sp>
      <p:sp>
        <p:nvSpPr>
          <p:cNvPr name="TextBox 5" id="5"/>
          <p:cNvSpPr txBox="true"/>
          <p:nvPr/>
        </p:nvSpPr>
        <p:spPr>
          <a:xfrm rot="0">
            <a:off x="1450210" y="1604105"/>
            <a:ext cx="58369" cy="517036"/>
          </a:xfrm>
          <a:prstGeom prst="rect">
            <a:avLst/>
          </a:prstGeom>
        </p:spPr>
        <p:txBody>
          <a:bodyPr anchor="t" rtlCol="false" tIns="0" lIns="0" bIns="0" rIns="0">
            <a:spAutoFit/>
          </a:bodyPr>
          <a:lstStyle/>
          <a:p>
            <a:pPr algn="l">
              <a:lnSpc>
                <a:spcPts val="4506"/>
              </a:lnSpc>
            </a:pPr>
            <a:r>
              <a:rPr lang="en-US" b="true" sz="1802">
                <a:solidFill>
                  <a:srgbClr val="000000"/>
                </a:solidFill>
                <a:latin typeface="Times New Roman Bold"/>
                <a:ea typeface="Times New Roman Bold"/>
                <a:cs typeface="Times New Roman Bold"/>
                <a:sym typeface="Times New Roman Bold"/>
              </a:rPr>
              <a:t> </a:t>
            </a:r>
          </a:p>
        </p:txBody>
      </p:sp>
      <p:sp>
        <p:nvSpPr>
          <p:cNvPr name="TextBox 6" id="6"/>
          <p:cNvSpPr txBox="true"/>
          <p:nvPr/>
        </p:nvSpPr>
        <p:spPr>
          <a:xfrm rot="0">
            <a:off x="947318" y="2107682"/>
            <a:ext cx="58293" cy="288084"/>
          </a:xfrm>
          <a:prstGeom prst="rect">
            <a:avLst/>
          </a:prstGeom>
        </p:spPr>
        <p:txBody>
          <a:bodyPr anchor="t" rtlCol="false" tIns="0" lIns="0" bIns="0" rIns="0">
            <a:spAutoFit/>
          </a:bodyPr>
          <a:lstStyle/>
          <a:p>
            <a:pPr algn="l">
              <a:lnSpc>
                <a:spcPts val="2163"/>
              </a:lnSpc>
            </a:pPr>
            <a:r>
              <a:rPr lang="en-US" sz="1800">
                <a:solidFill>
                  <a:srgbClr val="000000"/>
                </a:solidFill>
                <a:latin typeface="Times New Roman"/>
                <a:ea typeface="Times New Roman"/>
                <a:cs typeface="Times New Roman"/>
                <a:sym typeface="Times New Roman"/>
              </a:rPr>
              <a:t> </a:t>
            </a:r>
          </a:p>
        </p:txBody>
      </p:sp>
      <p:sp>
        <p:nvSpPr>
          <p:cNvPr name="TextBox 7" id="7"/>
          <p:cNvSpPr txBox="true"/>
          <p:nvPr/>
        </p:nvSpPr>
        <p:spPr>
          <a:xfrm rot="0">
            <a:off x="109697" y="1292268"/>
            <a:ext cx="8948774" cy="1321685"/>
          </a:xfrm>
          <a:prstGeom prst="rect">
            <a:avLst/>
          </a:prstGeom>
        </p:spPr>
        <p:txBody>
          <a:bodyPr anchor="t" rtlCol="false" tIns="0" lIns="0" bIns="0" rIns="0">
            <a:spAutoFit/>
          </a:bodyPr>
          <a:lstStyle/>
          <a:p>
            <a:pPr algn="ctr">
              <a:lnSpc>
                <a:spcPts val="2014"/>
              </a:lnSpc>
            </a:pPr>
            <a:r>
              <a:rPr lang="en-US" sz="1680" b="true">
                <a:solidFill>
                  <a:srgbClr val="000000"/>
                </a:solidFill>
                <a:latin typeface="Times New Roman Bold"/>
                <a:ea typeface="Times New Roman Bold"/>
                <a:cs typeface="Times New Roman Bold"/>
                <a:sym typeface="Times New Roman Bold"/>
              </a:rPr>
              <a:t>Table 1: Performance comparison table of different models</a:t>
            </a:r>
          </a:p>
          <a:p>
            <a:pPr algn="ctr">
              <a:lnSpc>
                <a:spcPts val="2014"/>
              </a:lnSpc>
              <a:spcBef>
                <a:spcPct val="0"/>
              </a:spcBef>
            </a:pPr>
            <a:r>
              <a:rPr lang="en-US" b="true" sz="1680">
                <a:solidFill>
                  <a:srgbClr val="000000"/>
                </a:solidFill>
                <a:latin typeface="Times New Roman Bold"/>
                <a:ea typeface="Times New Roman Bold"/>
                <a:cs typeface="Times New Roman Bold"/>
                <a:sym typeface="Times New Roman Bold"/>
              </a:rPr>
              <a:t>Th</a:t>
            </a:r>
            <a:r>
              <a:rPr lang="en-US" b="true" sz="1680">
                <a:solidFill>
                  <a:srgbClr val="000000"/>
                </a:solidFill>
                <a:latin typeface="Times New Roman Bold"/>
                <a:ea typeface="Times New Roman Bold"/>
                <a:cs typeface="Times New Roman Bold"/>
                <a:sym typeface="Times New Roman Bold"/>
              </a:rPr>
              <a:t>is table compares the performance of DenseNet, ResNet, and EfficientNet-B0 using standard evaluation metrics. EfficientNet-B0 achieves the highest accuracy, precision, recall, and F1-score, indicating better overall classification performance and balanced detection of oral cancer and dental pathologies compared to the other models.</a:t>
            </a:r>
          </a:p>
        </p:txBody>
      </p:sp>
      <p:sp>
        <p:nvSpPr>
          <p:cNvPr name="TextBox 8" id="8"/>
          <p:cNvSpPr txBox="true"/>
          <p:nvPr/>
        </p:nvSpPr>
        <p:spPr>
          <a:xfrm rot="0">
            <a:off x="8479536" y="4810906"/>
            <a:ext cx="106680" cy="3199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16</a:t>
            </a:r>
          </a:p>
          <a:p>
            <a:pPr algn="l">
              <a:lnSpc>
                <a:spcPts val="1263"/>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713974" y="1009393"/>
            <a:ext cx="1752600" cy="520446"/>
          </a:xfrm>
          <a:prstGeom prst="rect">
            <a:avLst/>
          </a:prstGeom>
        </p:spPr>
        <p:txBody>
          <a:bodyPr anchor="t" rtlCol="false" tIns="0" lIns="0" bIns="0" rIns="0">
            <a:spAutoFit/>
          </a:bodyPr>
          <a:lstStyle/>
          <a:p>
            <a:pPr algn="l">
              <a:lnSpc>
                <a:spcPts val="3597"/>
              </a:lnSpc>
            </a:pPr>
            <a:r>
              <a:rPr lang="en-US" b="true" sz="3000">
                <a:solidFill>
                  <a:srgbClr val="000000"/>
                </a:solidFill>
                <a:latin typeface="Times New Roman MT Bold"/>
                <a:ea typeface="Times New Roman MT Bold"/>
                <a:cs typeface="Times New Roman MT Bold"/>
                <a:sym typeface="Times New Roman MT Bold"/>
              </a:rPr>
              <a:t>Conclusion</a:t>
            </a:r>
          </a:p>
        </p:txBody>
      </p:sp>
      <p:sp>
        <p:nvSpPr>
          <p:cNvPr name="TextBox 3" id="3"/>
          <p:cNvSpPr txBox="true"/>
          <p:nvPr/>
        </p:nvSpPr>
        <p:spPr>
          <a:xfrm rot="0">
            <a:off x="4466063" y="2369772"/>
            <a:ext cx="99060" cy="552857"/>
          </a:xfrm>
          <a:prstGeom prst="rect">
            <a:avLst/>
          </a:prstGeom>
        </p:spPr>
        <p:txBody>
          <a:bodyPr anchor="t" rtlCol="false" tIns="0" lIns="0" bIns="0" rIns="0">
            <a:spAutoFit/>
          </a:bodyPr>
          <a:lstStyle/>
          <a:p>
            <a:pPr algn="l">
              <a:lnSpc>
                <a:spcPts val="3841"/>
              </a:lnSpc>
            </a:pPr>
            <a:r>
              <a:rPr lang="en-US" sz="3204">
                <a:solidFill>
                  <a:srgbClr val="000000"/>
                </a:solidFill>
                <a:latin typeface="Times New Roman MT"/>
                <a:ea typeface="Times New Roman MT"/>
                <a:cs typeface="Times New Roman MT"/>
                <a:sym typeface="Times New Roman MT"/>
              </a:rPr>
              <a:t> </a:t>
            </a:r>
          </a:p>
        </p:txBody>
      </p:sp>
      <p:sp>
        <p:nvSpPr>
          <p:cNvPr name="TextBox 4" id="4"/>
          <p:cNvSpPr txBox="true"/>
          <p:nvPr/>
        </p:nvSpPr>
        <p:spPr>
          <a:xfrm rot="0">
            <a:off x="216392" y="1471601"/>
            <a:ext cx="8705378" cy="3470719"/>
          </a:xfrm>
          <a:prstGeom prst="rect">
            <a:avLst/>
          </a:prstGeom>
        </p:spPr>
        <p:txBody>
          <a:bodyPr anchor="t" rtlCol="false" tIns="0" lIns="0" bIns="0" rIns="0">
            <a:spAutoFit/>
          </a:bodyPr>
          <a:lstStyle/>
          <a:p>
            <a:pPr algn="just">
              <a:lnSpc>
                <a:spcPts val="2251"/>
              </a:lnSpc>
            </a:pPr>
            <a:r>
              <a:rPr lang="en-US" sz="1899">
                <a:solidFill>
                  <a:srgbClr val="000000"/>
                </a:solidFill>
                <a:latin typeface="Times New Roman MT"/>
                <a:ea typeface="Times New Roman MT"/>
                <a:cs typeface="Times New Roman MT"/>
                <a:sym typeface="Times New Roman MT"/>
              </a:rPr>
              <a:t>This wo</a:t>
            </a:r>
            <a:r>
              <a:rPr lang="en-US" sz="1899">
                <a:solidFill>
                  <a:srgbClr val="000000"/>
                </a:solidFill>
                <a:latin typeface="Times New Roman MT"/>
                <a:ea typeface="Times New Roman MT"/>
                <a:cs typeface="Times New Roman MT"/>
                <a:sym typeface="Times New Roman MT"/>
              </a:rPr>
              <a:t>rk presents an AI-based approach for the early detection of oral cancer and other dental diseases using intraoral images. The EfficientNet-B0 model performed better than DenseNet and ResNet, achieving high accuracy along with balanced precision, recall, and F1-score. The use of Grad-CAM helped in clearly showing which areas of the image influenced the model’s decision, improving transparency and clinical trust.</a:t>
            </a:r>
          </a:p>
          <a:p>
            <a:pPr algn="just">
              <a:lnSpc>
                <a:spcPts val="2251"/>
              </a:lnSpc>
            </a:pPr>
          </a:p>
          <a:p>
            <a:pPr algn="just">
              <a:lnSpc>
                <a:spcPts val="2251"/>
              </a:lnSpc>
            </a:pPr>
            <a:r>
              <a:rPr lang="en-US" sz="1899">
                <a:solidFill>
                  <a:srgbClr val="000000"/>
                </a:solidFill>
                <a:latin typeface="Times New Roman MT"/>
                <a:ea typeface="Times New Roman MT"/>
                <a:cs typeface="Times New Roman MT"/>
                <a:sym typeface="Times New Roman MT"/>
              </a:rPr>
              <a:t>The proposed system can assist dentists in faster and more consistent diagnosis and reduce dependency on manual screening. Overall, this approach shows strong potential for reliable, early, and accessible oral health screening in both clinical and community settings.</a:t>
            </a:r>
          </a:p>
          <a:p>
            <a:pPr algn="just">
              <a:lnSpc>
                <a:spcPts val="2251"/>
              </a:lnSpc>
            </a:pPr>
          </a:p>
        </p:txBody>
      </p:sp>
      <p:sp>
        <p:nvSpPr>
          <p:cNvPr name="Freeform 5" id="5"/>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
        <p:nvSpPr>
          <p:cNvPr name="TextBox 7" id="7"/>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479536" y="4810906"/>
            <a:ext cx="106680" cy="167579"/>
          </a:xfrm>
          <a:prstGeom prst="rect">
            <a:avLst/>
          </a:prstGeom>
        </p:spPr>
        <p:txBody>
          <a:bodyPr anchor="t" rtlCol="false" tIns="0" lIns="0" bIns="0" rIns="0">
            <a:spAutoFit/>
          </a:bodyPr>
          <a:lstStyle/>
          <a:p>
            <a:pPr algn="l">
              <a:lnSpc>
                <a:spcPts val="1263"/>
              </a:lnSpc>
            </a:pPr>
            <a:r>
              <a:rPr lang="en-US" sz="902">
                <a:solidFill>
                  <a:srgbClr val="898989"/>
                </a:solidFill>
                <a:latin typeface="Calibri (MS)"/>
                <a:ea typeface="Calibri (MS)"/>
                <a:cs typeface="Calibri (MS)"/>
                <a:sym typeface="Calibri (MS)"/>
              </a:rPr>
              <a:t>18</a:t>
            </a:r>
          </a:p>
        </p:txBody>
      </p:sp>
      <p:sp>
        <p:nvSpPr>
          <p:cNvPr name="TextBox 3" id="3"/>
          <p:cNvSpPr txBox="true"/>
          <p:nvPr/>
        </p:nvSpPr>
        <p:spPr>
          <a:xfrm rot="0">
            <a:off x="3113654" y="1439305"/>
            <a:ext cx="2940963" cy="514757"/>
          </a:xfrm>
          <a:prstGeom prst="rect">
            <a:avLst/>
          </a:prstGeom>
        </p:spPr>
        <p:txBody>
          <a:bodyPr anchor="t" rtlCol="false" tIns="0" lIns="0" bIns="0" rIns="0">
            <a:spAutoFit/>
          </a:bodyPr>
          <a:lstStyle/>
          <a:p>
            <a:pPr algn="l">
              <a:lnSpc>
                <a:spcPts val="3844"/>
              </a:lnSpc>
            </a:pPr>
            <a:r>
              <a:rPr lang="en-US" b="true" sz="3206">
                <a:solidFill>
                  <a:srgbClr val="000000"/>
                </a:solidFill>
                <a:latin typeface="Times New Roman Bold"/>
                <a:ea typeface="Times New Roman Bold"/>
                <a:cs typeface="Times New Roman Bold"/>
                <a:sym typeface="Times New Roman Bold"/>
              </a:rPr>
              <a:t>THANK YOU...!</a:t>
            </a:r>
          </a:p>
        </p:txBody>
      </p:sp>
      <p:sp>
        <p:nvSpPr>
          <p:cNvPr name="TextBox 4" id="4"/>
          <p:cNvSpPr txBox="true"/>
          <p:nvPr/>
        </p:nvSpPr>
        <p:spPr>
          <a:xfrm rot="0">
            <a:off x="4466063" y="2407872"/>
            <a:ext cx="103765" cy="507444"/>
          </a:xfrm>
          <a:prstGeom prst="rect">
            <a:avLst/>
          </a:prstGeom>
        </p:spPr>
        <p:txBody>
          <a:bodyPr anchor="t" rtlCol="false" tIns="0" lIns="0" bIns="0" rIns="0">
            <a:spAutoFit/>
          </a:bodyPr>
          <a:lstStyle/>
          <a:p>
            <a:pPr algn="l">
              <a:lnSpc>
                <a:spcPts val="3841"/>
              </a:lnSpc>
            </a:pPr>
            <a:r>
              <a:rPr lang="en-US" b="true" sz="3204">
                <a:solidFill>
                  <a:srgbClr val="000000"/>
                </a:solidFill>
                <a:latin typeface="Times New Roman Bold"/>
                <a:ea typeface="Times New Roman Bold"/>
                <a:cs typeface="Times New Roman Bold"/>
                <a:sym typeface="Times New Roman Bold"/>
              </a:rPr>
              <a:t> </a:t>
            </a:r>
          </a:p>
        </p:txBody>
      </p:sp>
      <p:sp>
        <p:nvSpPr>
          <p:cNvPr name="TextBox 5" id="5"/>
          <p:cNvSpPr txBox="true"/>
          <p:nvPr/>
        </p:nvSpPr>
        <p:spPr>
          <a:xfrm rot="0">
            <a:off x="305505" y="2393499"/>
            <a:ext cx="8557260" cy="904520"/>
          </a:xfrm>
          <a:prstGeom prst="rect">
            <a:avLst/>
          </a:prstGeom>
        </p:spPr>
        <p:txBody>
          <a:bodyPr anchor="t" rtlCol="false" tIns="0" lIns="0" bIns="0" rIns="0">
            <a:spAutoFit/>
          </a:bodyPr>
          <a:lstStyle/>
          <a:p>
            <a:pPr algn="l">
              <a:lnSpc>
                <a:spcPts val="1602"/>
              </a:lnSpc>
            </a:pPr>
            <a:r>
              <a:rPr lang="en-US" b="true" sz="3204">
                <a:solidFill>
                  <a:srgbClr val="000000"/>
                </a:solidFill>
                <a:latin typeface="Times New Roman Bold"/>
                <a:ea typeface="Times New Roman Bold"/>
                <a:cs typeface="Times New Roman Bold"/>
                <a:sym typeface="Times New Roman Bold"/>
              </a:rPr>
              <a:t>LOOKING FORWARD FOR QUESTIONS AND</a:t>
            </a:r>
          </a:p>
          <a:p>
            <a:pPr algn="ctr">
              <a:lnSpc>
                <a:spcPts val="7683"/>
              </a:lnSpc>
            </a:pPr>
            <a:r>
              <a:rPr lang="en-US" b="true" sz="3204">
                <a:solidFill>
                  <a:srgbClr val="000000"/>
                </a:solidFill>
                <a:latin typeface="Times New Roman Bold"/>
                <a:ea typeface="Times New Roman Bold"/>
                <a:cs typeface="Times New Roman Bold"/>
                <a:sym typeface="Times New Roman Bold"/>
              </a:rPr>
              <a:t>DISCUSSIONS</a:t>
            </a:r>
          </a:p>
        </p:txBody>
      </p:sp>
      <p:sp>
        <p:nvSpPr>
          <p:cNvPr name="TextBox 6" id="6"/>
          <p:cNvSpPr txBox="true"/>
          <p:nvPr/>
        </p:nvSpPr>
        <p:spPr>
          <a:xfrm rot="0">
            <a:off x="1406723" y="3164669"/>
            <a:ext cx="6330553" cy="874599"/>
          </a:xfrm>
          <a:prstGeom prst="rect">
            <a:avLst/>
          </a:prstGeom>
        </p:spPr>
        <p:txBody>
          <a:bodyPr anchor="t" rtlCol="false" tIns="0" lIns="0" bIns="0" rIns="0">
            <a:spAutoFit/>
          </a:bodyPr>
          <a:lstStyle/>
          <a:p>
            <a:pPr algn="l">
              <a:lnSpc>
                <a:spcPts val="7683"/>
              </a:lnSpc>
            </a:pPr>
            <a:r>
              <a:rPr lang="en-US" b="true" sz="3204">
                <a:solidFill>
                  <a:srgbClr val="000000"/>
                </a:solidFill>
                <a:latin typeface="Times New Roman Bold"/>
                <a:ea typeface="Times New Roman Bold"/>
                <a:cs typeface="Times New Roman Bold"/>
                <a:sym typeface="Times New Roman Bold"/>
              </a:rPr>
              <a:t>OPEN TO ADVICES AND INPUTS</a:t>
            </a:r>
          </a:p>
        </p:txBody>
      </p:sp>
      <p:sp>
        <p:nvSpPr>
          <p:cNvPr name="Freeform 7" id="7"/>
          <p:cNvSpPr/>
          <p:nvPr/>
        </p:nvSpPr>
        <p:spPr>
          <a:xfrm flipH="false" flipV="false" rot="0">
            <a:off x="0" y="789546"/>
            <a:ext cx="9144000" cy="276997"/>
          </a:xfrm>
          <a:custGeom>
            <a:avLst/>
            <a:gdLst/>
            <a:ahLst/>
            <a:cxnLst/>
            <a:rect r="r" b="b" t="t" l="l"/>
            <a:pathLst>
              <a:path h="276997" w="9144000">
                <a:moveTo>
                  <a:pt x="0" y="0"/>
                </a:moveTo>
                <a:lnTo>
                  <a:pt x="9144000" y="0"/>
                </a:lnTo>
                <a:lnTo>
                  <a:pt x="9144000" y="276997"/>
                </a:lnTo>
                <a:lnTo>
                  <a:pt x="0" y="27699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0" y="-1751"/>
            <a:ext cx="9144000" cy="802872"/>
          </a:xfrm>
          <a:custGeom>
            <a:avLst/>
            <a:gdLst/>
            <a:ahLst/>
            <a:cxnLst/>
            <a:rect r="r" b="b" t="t" l="l"/>
            <a:pathLst>
              <a:path h="802872" w="9144000">
                <a:moveTo>
                  <a:pt x="0" y="0"/>
                </a:moveTo>
                <a:lnTo>
                  <a:pt x="9144000" y="0"/>
                </a:lnTo>
                <a:lnTo>
                  <a:pt x="9144000" y="802872"/>
                </a:lnTo>
                <a:lnTo>
                  <a:pt x="0" y="802872"/>
                </a:lnTo>
                <a:lnTo>
                  <a:pt x="0" y="0"/>
                </a:lnTo>
                <a:close/>
              </a:path>
            </a:pathLst>
          </a:custGeom>
          <a:blipFill>
            <a:blip r:embed="rId4"/>
            <a:stretch>
              <a:fillRect l="0" t="0" r="0" b="-1078"/>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DAG_D_inebI</dc:identifier>
  <dcterms:modified xsi:type="dcterms:W3CDTF">2011-08-01T06:04:30Z</dcterms:modified>
  <cp:revision>1</cp:revision>
  <dc:title>MiniProject </dc:title>
</cp:coreProperties>
</file>